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367" r:id="rId2"/>
    <p:sldId id="256" r:id="rId3"/>
    <p:sldId id="369" r:id="rId4"/>
    <p:sldId id="371" r:id="rId5"/>
    <p:sldId id="372" r:id="rId6"/>
    <p:sldId id="370" r:id="rId7"/>
    <p:sldId id="368" r:id="rId8"/>
    <p:sldId id="373" r:id="rId9"/>
    <p:sldId id="374" r:id="rId10"/>
    <p:sldId id="375" r:id="rId11"/>
    <p:sldId id="37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988" autoAdjust="0"/>
  </p:normalViewPr>
  <p:slideViewPr>
    <p:cSldViewPr snapToGrid="0">
      <p:cViewPr varScale="1">
        <p:scale>
          <a:sx n="94" d="100"/>
          <a:sy n="94" d="100"/>
        </p:scale>
        <p:origin x="123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97638-1A5B-4213-80E7-C585DBCBA414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8CDB2-32DF-46F5-B558-3CF2272A102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8654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8CDB2-32DF-46F5-B558-3CF2272A102D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6422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Imagine you are at a restaurant, but the waiter is not allowed to come to your table unless you scream "WAITER!"</a:t>
            </a:r>
          </a:p>
          <a:p>
            <a:r>
              <a:rPr lang="en-US" b="1" dirty="0"/>
              <a:t>You:</a:t>
            </a:r>
            <a:r>
              <a:rPr lang="en-US" dirty="0"/>
              <a:t> "Waiter! Can I have water?" -&gt; </a:t>
            </a:r>
            <a:r>
              <a:rPr lang="en-US" b="1" dirty="0"/>
              <a:t>Waiter:</a:t>
            </a:r>
            <a:r>
              <a:rPr lang="en-US" dirty="0"/>
              <a:t> Brings water -&gt; </a:t>
            </a:r>
            <a:r>
              <a:rPr lang="en-US" b="1" dirty="0"/>
              <a:t>Waiter leaves.</a:t>
            </a:r>
            <a:endParaRPr lang="en-US" dirty="0"/>
          </a:p>
          <a:p>
            <a:r>
              <a:rPr lang="en-US" dirty="0"/>
              <a:t>This is </a:t>
            </a:r>
            <a:r>
              <a:rPr lang="en-US" b="1" dirty="0"/>
              <a:t>HTTP</a:t>
            </a:r>
            <a:r>
              <a:rPr lang="en-US" dirty="0"/>
              <a:t>. The client (you) must always initiate the request. The server (waiter) cannot speak to you unless you ask first, and the connection closes after every single interaction.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8CDB2-32DF-46F5-B558-3CF2272A102D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1767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How it Works (The Technical Steps)</a:t>
            </a:r>
          </a:p>
          <a:p>
            <a:r>
              <a:rPr lang="en-US" dirty="0" err="1"/>
              <a:t>WebSockets</a:t>
            </a:r>
            <a:r>
              <a:rPr lang="en-US" dirty="0"/>
              <a:t> actually start as a regular HTTP request, but they "handshake" and upgrade to a permanent connection.</a:t>
            </a:r>
          </a:p>
          <a:p>
            <a:endParaRPr lang="en-US" dirty="0"/>
          </a:p>
          <a:p>
            <a:r>
              <a:rPr lang="en-US" b="1" dirty="0"/>
              <a:t>The Handshake:</a:t>
            </a:r>
            <a:r>
              <a:rPr lang="en-US" dirty="0"/>
              <a:t> The browser sends a request to the server saying, </a:t>
            </a:r>
            <a:r>
              <a:rPr lang="en-US" i="1" dirty="0"/>
              <a:t>"Hey, can we talk over </a:t>
            </a:r>
            <a:r>
              <a:rPr lang="en-US" i="1" dirty="0" err="1"/>
              <a:t>WebSockets</a:t>
            </a:r>
            <a:r>
              <a:rPr lang="en-US" i="1" dirty="0"/>
              <a:t> instead of HTTP?"</a:t>
            </a:r>
            <a:endParaRPr lang="en-US" dirty="0"/>
          </a:p>
          <a:p>
            <a:r>
              <a:rPr lang="en-US" b="1" dirty="0"/>
              <a:t>The Upgrade:</a:t>
            </a:r>
            <a:r>
              <a:rPr lang="en-US" dirty="0"/>
              <a:t> If the server agrees, it sends back a "101 Switching Protocols" response.</a:t>
            </a:r>
          </a:p>
          <a:p>
            <a:r>
              <a:rPr lang="en-US" b="1" dirty="0"/>
              <a:t>The Open Line:</a:t>
            </a:r>
            <a:r>
              <a:rPr lang="en-US" dirty="0"/>
              <a:t> The connection is now "Full-Duplex." This means the server can send data to the browser without being asked, and the browser can send data to the server simultaneously.</a:t>
            </a:r>
          </a:p>
          <a:p>
            <a:r>
              <a:rPr lang="en-US" b="1" dirty="0"/>
              <a:t>Closing:</a:t>
            </a:r>
            <a:r>
              <a:rPr lang="en-US" dirty="0"/>
              <a:t> The connection stays open until either the user closes the tab or the server cuts the line.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8CDB2-32DF-46F5-B558-3CF2272A102D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4404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8CDB2-32DF-46F5-B558-3CF2272A102D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1981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8CDB2-32DF-46F5-B558-3CF2272A102D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4450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commands for the </a:t>
            </a:r>
            <a:r>
              <a:rPr lang="en-US" dirty="0" err="1"/>
              <a:t>websockets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XSS </a:t>
            </a:r>
          </a:p>
          <a:p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=x </a:t>
            </a:r>
            <a:r>
              <a:rPr lang="en-US" dirty="0" err="1"/>
              <a:t>onerror</a:t>
            </a:r>
            <a:r>
              <a:rPr lang="en-US" dirty="0"/>
              <a:t>='alert('1')'&gt;</a:t>
            </a:r>
          </a:p>
          <a:p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img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src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=1 </a:t>
            </a:r>
            <a:r>
              <a:rPr lang="en-I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onerror</a:t>
            </a:r>
            <a:r>
              <a:rPr lang="en-I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='alert(1)'&gt;</a:t>
            </a:r>
            <a:endParaRPr lang="en-US" dirty="0"/>
          </a:p>
          <a:p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=invalid </a:t>
            </a:r>
            <a:r>
              <a:rPr lang="en-US" dirty="0" err="1"/>
              <a:t>onerror</a:t>
            </a:r>
            <a:r>
              <a:rPr lang="en-US" dirty="0"/>
              <a:t>=alert(</a:t>
            </a:r>
            <a:r>
              <a:rPr lang="en-US" dirty="0" err="1"/>
              <a:t>document.domain</a:t>
            </a:r>
            <a:r>
              <a:rPr lang="en-US" dirty="0"/>
              <a:t>)&gt;</a:t>
            </a:r>
          </a:p>
          <a:p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=x </a:t>
            </a:r>
            <a:r>
              <a:rPr lang="en-US" dirty="0" err="1"/>
              <a:t>onerror</a:t>
            </a:r>
            <a:r>
              <a:rPr lang="en-US" dirty="0"/>
              <a:t>=alert(</a:t>
            </a:r>
            <a:r>
              <a:rPr lang="en-US" dirty="0" err="1"/>
              <a:t>btoa</a:t>
            </a:r>
            <a:r>
              <a:rPr lang="en-US" dirty="0"/>
              <a:t>(</a:t>
            </a:r>
            <a:r>
              <a:rPr lang="en-US" dirty="0" err="1"/>
              <a:t>JSON.stringify</a:t>
            </a:r>
            <a:r>
              <a:rPr lang="en-US" dirty="0"/>
              <a:t>(</a:t>
            </a:r>
            <a:r>
              <a:rPr lang="en-US" dirty="0" err="1"/>
              <a:t>localStorage</a:t>
            </a:r>
            <a:r>
              <a:rPr lang="en-US" dirty="0"/>
              <a:t>)))&gt;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SQL </a:t>
            </a:r>
          </a:p>
          <a:p>
            <a:r>
              <a:rPr lang="en-US" dirty="0"/>
              <a:t>' UNION SELECT username, NULL, NULL, NULL FROM USERS -- </a:t>
            </a:r>
          </a:p>
          <a:p>
            <a:r>
              <a:rPr lang="en-US" dirty="0"/>
              <a:t>' OR 1=1 -- </a:t>
            </a:r>
          </a:p>
          <a:p>
            <a:r>
              <a:rPr lang="en-US" dirty="0"/>
              <a:t>' ORDER BY 4 --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C8CDB2-32DF-46F5-B558-3CF2272A102D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8796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54E7A-685F-44E4-B1CE-8A9D1EA03F9A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DD59BFAB-C61B-483F-816E-F26ACFE43C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7258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54E7A-685F-44E4-B1CE-8A9D1EA03F9A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BFAB-C61B-483F-816E-F26ACFE43C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8238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54E7A-685F-44E4-B1CE-8A9D1EA03F9A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DD59BFAB-C61B-483F-816E-F26ACFE43C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316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54E7A-685F-44E4-B1CE-8A9D1EA03F9A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BFAB-C61B-483F-816E-F26ACFE43C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6212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54E7A-685F-44E4-B1CE-8A9D1EA03F9A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BFAB-C61B-483F-816E-F26ACFE43C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130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54E7A-685F-44E4-B1CE-8A9D1EA03F9A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BFAB-C61B-483F-816E-F26ACFE43C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4574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54E7A-685F-44E4-B1CE-8A9D1EA03F9A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BFAB-C61B-483F-816E-F26ACFE43C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5243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54E7A-685F-44E4-B1CE-8A9D1EA03F9A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BFAB-C61B-483F-816E-F26ACFE43C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5053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54E7A-685F-44E4-B1CE-8A9D1EA03F9A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BFAB-C61B-483F-816E-F26ACFE43C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5631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54E7A-685F-44E4-B1CE-8A9D1EA03F9A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DD59BFAB-C61B-483F-816E-F26ACFE43C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345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54E7A-685F-44E4-B1CE-8A9D1EA03F9A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DD59BFAB-C61B-483F-816E-F26ACFE43C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38142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54E7A-685F-44E4-B1CE-8A9D1EA03F9A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D59BFAB-C61B-483F-816E-F26ACFE43C45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624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54E7A-685F-44E4-B1CE-8A9D1EA03F9A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DD59BFAB-C61B-483F-816E-F26ACFE43C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3297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54E7A-685F-44E4-B1CE-8A9D1EA03F9A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BFAB-C61B-483F-816E-F26ACFE43C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28417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54E7A-685F-44E4-B1CE-8A9D1EA03F9A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BFAB-C61B-483F-816E-F26ACFE43C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89669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54E7A-685F-44E4-B1CE-8A9D1EA03F9A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9BFAB-C61B-483F-816E-F26ACFE43C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29312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45254E7A-685F-44E4-B1CE-8A9D1EA03F9A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DD59BFAB-C61B-483F-816E-F26ACFE43C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961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54E7A-685F-44E4-B1CE-8A9D1EA03F9A}" type="datetimeFigureOut">
              <a:rPr lang="en-IN" smtClean="0"/>
              <a:t>30-01-2026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59BFAB-C61B-483F-816E-F26ACFE43C4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60460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A1D48-7080-88E3-7F3B-BE32B01E7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F776A-8D4F-6D35-35AE-CDC00AE1B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E9C006-D5ED-5140-286E-D9E770026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127" y="-207819"/>
            <a:ext cx="12360442" cy="876818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9BDB7AF-B676-171A-E34F-5B45C260B40B}"/>
              </a:ext>
            </a:extLst>
          </p:cNvPr>
          <p:cNvSpPr txBox="1">
            <a:spLocks/>
          </p:cNvSpPr>
          <p:nvPr/>
        </p:nvSpPr>
        <p:spPr>
          <a:xfrm>
            <a:off x="2176333" y="4697815"/>
            <a:ext cx="8144134" cy="1373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dirty="0">
                <a:latin typeface="Nunito Sans" pitchFamily="2" charset="0"/>
              </a:rPr>
              <a:t>Web Hacking Extreme Bootcamp</a:t>
            </a:r>
            <a:endParaRPr lang="en-IN" sz="4800" b="1" dirty="0">
              <a:latin typeface="Nunito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512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Join Redfox Security: Exciting Career Opportunities Await">
            <a:extLst>
              <a:ext uri="{FF2B5EF4-FFF2-40B4-BE49-F238E27FC236}">
                <a16:creationId xmlns:a16="http://schemas.microsoft.com/office/drawing/2014/main" id="{F8C91B46-4F00-FFC6-86F9-45C20F2D7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7696" y="2661919"/>
            <a:ext cx="1490598" cy="1490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E9AF15A8-9B3D-1864-3FC4-D317ABF110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6000" dirty="0" err="1">
                <a:latin typeface="Nunito Sans" pitchFamily="2" charset="0"/>
              </a:rPr>
              <a:t>WebSockets</a:t>
            </a:r>
            <a:endParaRPr lang="en-IN" sz="6000" dirty="0">
              <a:latin typeface="Nunito Sans" pitchFamily="2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C30A767-A07E-8DD2-207D-EA6DDACDCE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9697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A2792-AFB2-3FA4-56FF-1D59AC984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Nunito Sans" pitchFamily="2" charset="0"/>
              </a:rPr>
              <a:t>Introduction to </a:t>
            </a:r>
            <a:r>
              <a:rPr lang="en-US" sz="4000" dirty="0" err="1">
                <a:latin typeface="Nunito Sans" pitchFamily="2" charset="0"/>
              </a:rPr>
              <a:t>WebSockets</a:t>
            </a:r>
            <a:endParaRPr lang="en-IN" sz="4000" dirty="0">
              <a:latin typeface="Nunito Sans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E3F37-98B6-DA0F-1A74-C4622C454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951" y="2235398"/>
            <a:ext cx="9952012" cy="3869374"/>
          </a:xfrm>
        </p:spPr>
        <p:txBody>
          <a:bodyPr>
            <a:normAutofit/>
          </a:bodyPr>
          <a:lstStyle/>
          <a:p>
            <a:r>
              <a:rPr lang="en-US" sz="1400" dirty="0" err="1">
                <a:latin typeface="Nunito Sans" pitchFamily="2" charset="0"/>
              </a:rPr>
              <a:t>WebSockets</a:t>
            </a:r>
            <a:r>
              <a:rPr lang="en-US" sz="1400" dirty="0">
                <a:latin typeface="Nunito Sans" pitchFamily="2" charset="0"/>
              </a:rPr>
              <a:t> are a technology that allows a </a:t>
            </a:r>
            <a:r>
              <a:rPr lang="en-US" sz="1400" b="1" dirty="0">
                <a:latin typeface="Nunito Sans" pitchFamily="2" charset="0"/>
              </a:rPr>
              <a:t>two-way, real-time conversation</a:t>
            </a:r>
            <a:r>
              <a:rPr lang="en-US" sz="1400" dirty="0">
                <a:latin typeface="Nunito Sans" pitchFamily="2" charset="0"/>
              </a:rPr>
              <a:t> between a web browser (the client) and a server.</a:t>
            </a:r>
          </a:p>
          <a:p>
            <a:r>
              <a:rPr lang="en-IN" sz="1400" b="1" dirty="0">
                <a:latin typeface="Nunito Sans" pitchFamily="2" charset="0"/>
              </a:rPr>
              <a:t>Real Life Example: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967735-D46C-61AA-F5EC-EB6DF8D73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206686"/>
              </p:ext>
            </p:extLst>
          </p:nvPr>
        </p:nvGraphicFramePr>
        <p:xfrm>
          <a:off x="894944" y="3278725"/>
          <a:ext cx="9484468" cy="2686648"/>
        </p:xfrm>
        <a:graphic>
          <a:graphicData uri="http://schemas.openxmlformats.org/drawingml/2006/table">
            <a:tbl>
              <a:tblPr/>
              <a:tblGrid>
                <a:gridCol w="3219855">
                  <a:extLst>
                    <a:ext uri="{9D8B030D-6E8A-4147-A177-3AD203B41FA5}">
                      <a16:colId xmlns:a16="http://schemas.microsoft.com/office/drawing/2014/main" val="2648621773"/>
                    </a:ext>
                  </a:extLst>
                </a:gridCol>
                <a:gridCol w="6264613">
                  <a:extLst>
                    <a:ext uri="{9D8B030D-6E8A-4147-A177-3AD203B41FA5}">
                      <a16:colId xmlns:a16="http://schemas.microsoft.com/office/drawing/2014/main" val="1236458190"/>
                    </a:ext>
                  </a:extLst>
                </a:gridCol>
              </a:tblGrid>
              <a:tr h="3064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Use Case</a:t>
                      </a:r>
                      <a:endParaRPr lang="en-IN" sz="1400" dirty="0">
                        <a:solidFill>
                          <a:schemeClr val="bg1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3138" marR="63138" marT="31569" marB="3156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How </a:t>
                      </a:r>
                      <a:r>
                        <a:rPr lang="en-US" sz="1400" b="1" dirty="0" err="1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WebSockets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 Make it Better</a:t>
                      </a:r>
                      <a:endParaRPr lang="en-US" sz="1400" dirty="0">
                        <a:solidFill>
                          <a:schemeClr val="bg1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3138" marR="63138" marT="31569" marB="3156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7077233"/>
                  </a:ext>
                </a:extLst>
              </a:tr>
              <a:tr h="793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Messaging (WhatsApp/Slack)</a:t>
                      </a:r>
                      <a:endParaRPr lang="en-IN" sz="1400" dirty="0">
                        <a:solidFill>
                          <a:schemeClr val="bg1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3138" marR="63138" marT="31569" marB="3156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When someone types or sends a message, it pops up on your screen instantly without you needing to "refresh" the page.</a:t>
                      </a:r>
                    </a:p>
                  </a:txBody>
                  <a:tcPr marL="63138" marR="63138" marT="31569" marB="3156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629340"/>
                  </a:ext>
                </a:extLst>
              </a:tr>
              <a:tr h="793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Live Sports Scores</a:t>
                      </a:r>
                      <a:endParaRPr lang="en-IN" sz="1400" dirty="0">
                        <a:solidFill>
                          <a:schemeClr val="bg1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3138" marR="63138" marT="31569" marB="3156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As soon as a goal is scored, the server "pushes" the updated score to every fan's phone at the exact same millisecond.</a:t>
                      </a:r>
                    </a:p>
                  </a:txBody>
                  <a:tcPr marL="63138" marR="63138" marT="31569" marB="3156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1433016"/>
                  </a:ext>
                </a:extLst>
              </a:tr>
              <a:tr h="793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Trading &amp; Crypto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marL="63138" marR="63138" marT="31569" marB="3156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Stock prices change every fraction of a second.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WebSockets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 allow those flickering numbers to update in real-time.</a:t>
                      </a:r>
                    </a:p>
                  </a:txBody>
                  <a:tcPr marL="63138" marR="63138" marT="31569" marB="31569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5207875"/>
                  </a:ext>
                </a:extLst>
              </a:tr>
            </a:tbl>
          </a:graphicData>
        </a:graphic>
      </p:graphicFrame>
      <p:pic>
        <p:nvPicPr>
          <p:cNvPr id="7" name="Picture 4" descr="Join Redfox Security: Exciting Career Opportunities Await">
            <a:extLst>
              <a:ext uri="{FF2B5EF4-FFF2-40B4-BE49-F238E27FC236}">
                <a16:creationId xmlns:a16="http://schemas.microsoft.com/office/drawing/2014/main" id="{AAA6E180-02E8-D737-0E15-76A542E7F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543" y="615871"/>
            <a:ext cx="1374483" cy="1374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7899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CB91-E211-2B32-47CD-09BFEE5E5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latin typeface="Nunito Sans" pitchFamily="2" charset="0"/>
              </a:rPr>
              <a:t>Workflow</a:t>
            </a:r>
            <a:endParaRPr lang="en-IN" sz="4000" dirty="0">
              <a:latin typeface="Nunito Sans" pitchFamily="2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E66773E-39CE-49B8-EA58-46EC6CC796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656" y="2103120"/>
            <a:ext cx="4655344" cy="4655344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79A3498-C99D-7C79-6325-80B0049BC7AF}"/>
              </a:ext>
            </a:extLst>
          </p:cNvPr>
          <p:cNvSpPr txBox="1"/>
          <p:nvPr/>
        </p:nvSpPr>
        <p:spPr>
          <a:xfrm>
            <a:off x="6683693" y="2233136"/>
            <a:ext cx="5508307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sz="1400" dirty="0">
                <a:solidFill>
                  <a:schemeClr val="bg1"/>
                </a:solidFill>
                <a:latin typeface="Nunito Sans" pitchFamily="2" charset="0"/>
              </a:rPr>
              <a:t>GET /chat HTTP/1.1</a:t>
            </a:r>
          </a:p>
          <a:p>
            <a:r>
              <a:rPr lang="en-IN" sz="1400" dirty="0">
                <a:solidFill>
                  <a:schemeClr val="bg1"/>
                </a:solidFill>
                <a:latin typeface="Nunito Sans" pitchFamily="2" charset="0"/>
              </a:rPr>
              <a:t>  Upgrade: </a:t>
            </a:r>
            <a:r>
              <a:rPr lang="en-IN" sz="1400" dirty="0" err="1">
                <a:solidFill>
                  <a:schemeClr val="bg1"/>
                </a:solidFill>
                <a:latin typeface="Nunito Sans" pitchFamily="2" charset="0"/>
              </a:rPr>
              <a:t>websocket</a:t>
            </a:r>
            <a:endParaRPr lang="en-IN" sz="1400" dirty="0">
              <a:solidFill>
                <a:schemeClr val="bg1"/>
              </a:solidFill>
              <a:latin typeface="Nunito Sans" pitchFamily="2" charset="0"/>
            </a:endParaRPr>
          </a:p>
          <a:p>
            <a:r>
              <a:rPr lang="en-IN" sz="1400" dirty="0">
                <a:solidFill>
                  <a:schemeClr val="bg1"/>
                </a:solidFill>
                <a:latin typeface="Nunito Sans" pitchFamily="2" charset="0"/>
              </a:rPr>
              <a:t>  Connection: Upgrade</a:t>
            </a:r>
          </a:p>
          <a:p>
            <a:r>
              <a:rPr lang="en-IN" sz="1400" dirty="0">
                <a:solidFill>
                  <a:schemeClr val="bg1"/>
                </a:solidFill>
                <a:latin typeface="Nunito Sans" pitchFamily="2" charset="0"/>
              </a:rPr>
              <a:t>  Sec-WebSocket-Key: [base64]</a:t>
            </a:r>
          </a:p>
          <a:p>
            <a:r>
              <a:rPr lang="en-IN" sz="1400" dirty="0">
                <a:solidFill>
                  <a:schemeClr val="bg1"/>
                </a:solidFill>
                <a:latin typeface="Nunito Sans" pitchFamily="2" charset="0"/>
              </a:rPr>
              <a:t>  Sec-WebSocket-Version: 13</a:t>
            </a:r>
          </a:p>
        </p:txBody>
      </p:sp>
      <p:pic>
        <p:nvPicPr>
          <p:cNvPr id="3" name="Picture 4" descr="Join Redfox Security: Exciting Career Opportunities Await">
            <a:extLst>
              <a:ext uri="{FF2B5EF4-FFF2-40B4-BE49-F238E27FC236}">
                <a16:creationId xmlns:a16="http://schemas.microsoft.com/office/drawing/2014/main" id="{07644A45-DD96-EFAA-1A50-7066E0971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543" y="615871"/>
            <a:ext cx="1374483" cy="1374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558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473A9-3152-2263-6E3B-DDAC1B2B8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latin typeface="Nunito Sans" pitchFamily="2" charset="0"/>
              </a:rPr>
              <a:t>Identify the WebSocket</a:t>
            </a:r>
            <a:endParaRPr lang="en-IN" sz="4000" dirty="0">
              <a:latin typeface="Nunito Sans" pitchFamily="2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C38732-A729-0A87-B26C-59EB1CCF5E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46024" b="14584"/>
          <a:stretch>
            <a:fillRect/>
          </a:stretch>
        </p:blipFill>
        <p:spPr>
          <a:xfrm>
            <a:off x="298031" y="2635740"/>
            <a:ext cx="5189220" cy="238809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C0C6CA-A730-047A-F710-CACBABC9B0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4362"/>
          <a:stretch>
            <a:fillRect/>
          </a:stretch>
        </p:blipFill>
        <p:spPr>
          <a:xfrm>
            <a:off x="5979352" y="2635740"/>
            <a:ext cx="5512854" cy="2388094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3" name="Picture 4" descr="Join Redfox Security: Exciting Career Opportunities Await">
            <a:extLst>
              <a:ext uri="{FF2B5EF4-FFF2-40B4-BE49-F238E27FC236}">
                <a16:creationId xmlns:a16="http://schemas.microsoft.com/office/drawing/2014/main" id="{C0F94CFC-3371-867C-A0BF-B4B385858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543" y="615871"/>
            <a:ext cx="1374483" cy="1374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3035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378E7-F5E4-B104-6B8F-97746D345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latin typeface="Nunito Sans" pitchFamily="2" charset="0"/>
              </a:rPr>
              <a:t>HTTP vs </a:t>
            </a:r>
            <a:r>
              <a:rPr lang="en-US" sz="4000" dirty="0" err="1">
                <a:latin typeface="Nunito Sans" pitchFamily="2" charset="0"/>
              </a:rPr>
              <a:t>WebSockets</a:t>
            </a:r>
            <a:endParaRPr lang="en-IN" sz="4000" dirty="0">
              <a:latin typeface="Nunito Sans" pitchFamily="2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F08FAFD-9BA4-5B87-6AEC-0E2B3137FD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4499593"/>
              </p:ext>
            </p:extLst>
          </p:nvPr>
        </p:nvGraphicFramePr>
        <p:xfrm>
          <a:off x="681038" y="2673191"/>
          <a:ext cx="9737285" cy="3182862"/>
        </p:xfrm>
        <a:graphic>
          <a:graphicData uri="http://schemas.openxmlformats.org/drawingml/2006/table">
            <a:tbl>
              <a:tblPr/>
              <a:tblGrid>
                <a:gridCol w="1549894">
                  <a:extLst>
                    <a:ext uri="{9D8B030D-6E8A-4147-A177-3AD203B41FA5}">
                      <a16:colId xmlns:a16="http://schemas.microsoft.com/office/drawing/2014/main" val="3245916207"/>
                    </a:ext>
                  </a:extLst>
                </a:gridCol>
                <a:gridCol w="4165014">
                  <a:extLst>
                    <a:ext uri="{9D8B030D-6E8A-4147-A177-3AD203B41FA5}">
                      <a16:colId xmlns:a16="http://schemas.microsoft.com/office/drawing/2014/main" val="2590301919"/>
                    </a:ext>
                  </a:extLst>
                </a:gridCol>
                <a:gridCol w="4022377">
                  <a:extLst>
                    <a:ext uri="{9D8B030D-6E8A-4147-A177-3AD203B41FA5}">
                      <a16:colId xmlns:a16="http://schemas.microsoft.com/office/drawing/2014/main" val="894635836"/>
                    </a:ext>
                  </a:extLst>
                </a:gridCol>
              </a:tblGrid>
              <a:tr h="397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Feature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HTTP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 err="1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WebSockets</a:t>
                      </a:r>
                      <a:endParaRPr lang="en-IN" sz="1600" b="1" dirty="0">
                        <a:solidFill>
                          <a:schemeClr val="bg1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67129"/>
                  </a:ext>
                </a:extLst>
              </a:tr>
              <a:tr h="696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Direction</a:t>
                      </a:r>
                      <a:endParaRPr lang="en-IN" sz="1600" dirty="0">
                        <a:solidFill>
                          <a:schemeClr val="bg1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One-way (Client asks, Server answers)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Two-way (Both can talk at any time)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6748463"/>
                  </a:ext>
                </a:extLst>
              </a:tr>
              <a:tr h="696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Latency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Higher (Has to "handshake" every time)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Lower (Handshake once, then stays open)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6896223"/>
                  </a:ext>
                </a:extLst>
              </a:tr>
              <a:tr h="696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Best For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Loading articles, images, or REST APIs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Live chats, games, and real-time feeds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8361998"/>
                  </a:ext>
                </a:extLst>
              </a:tr>
              <a:tr h="6962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State</a:t>
                      </a:r>
                      <a:endParaRPr lang="en-IN" sz="1600">
                        <a:solidFill>
                          <a:schemeClr val="bg1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Stateless (Each request is brand new)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Stateful (The server knows who you are)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3433873"/>
                  </a:ext>
                </a:extLst>
              </a:tr>
            </a:tbl>
          </a:graphicData>
        </a:graphic>
      </p:graphicFrame>
      <p:pic>
        <p:nvPicPr>
          <p:cNvPr id="9" name="Picture 4" descr="Join Redfox Security: Exciting Career Opportunities Await">
            <a:extLst>
              <a:ext uri="{FF2B5EF4-FFF2-40B4-BE49-F238E27FC236}">
                <a16:creationId xmlns:a16="http://schemas.microsoft.com/office/drawing/2014/main" id="{A0785363-1E03-AE0F-93F8-5C1A2A8AC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543" y="615871"/>
            <a:ext cx="1374483" cy="1374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6888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F194B-9552-999A-3E52-4AA4C095E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latin typeface="Nunito Sans" pitchFamily="2" charset="0"/>
              </a:rPr>
              <a:t>Exploitation</a:t>
            </a:r>
            <a:endParaRPr lang="en-IN" sz="4000" dirty="0">
              <a:latin typeface="Nunito Sans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966E0-69E6-231C-2637-8AC7A5969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Commands for the </a:t>
            </a:r>
            <a:r>
              <a:rPr lang="en-US" b="1" dirty="0" err="1"/>
              <a:t>websockets</a:t>
            </a:r>
            <a:r>
              <a:rPr lang="en-US" b="1" dirty="0"/>
              <a:t> </a:t>
            </a:r>
          </a:p>
          <a:p>
            <a:endParaRPr lang="en-US" dirty="0"/>
          </a:p>
          <a:p>
            <a:r>
              <a:rPr lang="en-US" b="1" dirty="0"/>
              <a:t>XSS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=x </a:t>
            </a:r>
            <a:r>
              <a:rPr lang="en-US" dirty="0" err="1"/>
              <a:t>onerror</a:t>
            </a:r>
            <a:r>
              <a:rPr lang="en-US" dirty="0"/>
              <a:t>='alert('1')'&gt;</a:t>
            </a:r>
          </a:p>
          <a:p>
            <a:pPr marL="0" indent="0">
              <a:buNone/>
            </a:pPr>
            <a:r>
              <a:rPr lang="en-IN" dirty="0"/>
              <a:t>&lt;</a:t>
            </a:r>
            <a:r>
              <a:rPr lang="en-IN" dirty="0" err="1"/>
              <a:t>img</a:t>
            </a:r>
            <a:r>
              <a:rPr lang="en-IN" dirty="0"/>
              <a:t> </a:t>
            </a:r>
            <a:r>
              <a:rPr lang="en-IN" dirty="0" err="1"/>
              <a:t>src</a:t>
            </a:r>
            <a:r>
              <a:rPr lang="en-IN" dirty="0"/>
              <a:t>=1 </a:t>
            </a:r>
            <a:r>
              <a:rPr lang="en-IN" dirty="0" err="1"/>
              <a:t>onerror</a:t>
            </a:r>
            <a:r>
              <a:rPr lang="en-IN" dirty="0"/>
              <a:t>='alert(1)'&gt;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=invalid </a:t>
            </a:r>
            <a:r>
              <a:rPr lang="en-US" dirty="0" err="1"/>
              <a:t>onerror</a:t>
            </a:r>
            <a:r>
              <a:rPr lang="en-US" dirty="0"/>
              <a:t>=alert(</a:t>
            </a:r>
            <a:r>
              <a:rPr lang="en-US" dirty="0" err="1"/>
              <a:t>document.domain</a:t>
            </a:r>
            <a:r>
              <a:rPr lang="en-US" dirty="0"/>
              <a:t>)&gt;</a:t>
            </a:r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=x </a:t>
            </a:r>
            <a:r>
              <a:rPr lang="en-US" dirty="0" err="1"/>
              <a:t>onerror</a:t>
            </a:r>
            <a:r>
              <a:rPr lang="en-US" dirty="0"/>
              <a:t>=alert(</a:t>
            </a:r>
            <a:r>
              <a:rPr lang="en-US" dirty="0" err="1"/>
              <a:t>btoa</a:t>
            </a:r>
            <a:r>
              <a:rPr lang="en-US" dirty="0"/>
              <a:t>(</a:t>
            </a:r>
            <a:r>
              <a:rPr lang="en-US" dirty="0" err="1"/>
              <a:t>JSON.stringify</a:t>
            </a:r>
            <a:r>
              <a:rPr lang="en-US" dirty="0"/>
              <a:t>(</a:t>
            </a:r>
            <a:r>
              <a:rPr lang="en-US" dirty="0" err="1"/>
              <a:t>localStorage</a:t>
            </a:r>
            <a:r>
              <a:rPr lang="en-US" dirty="0"/>
              <a:t>)))&gt;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SQL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' UNION SELECT username, NULL, NULL, NULL FROM USERS -- </a:t>
            </a:r>
          </a:p>
          <a:p>
            <a:pPr marL="0" indent="0">
              <a:buNone/>
            </a:pPr>
            <a:r>
              <a:rPr lang="en-US" dirty="0"/>
              <a:t>' OR 1=1 -- </a:t>
            </a:r>
          </a:p>
          <a:p>
            <a:pPr marL="0" indent="0">
              <a:buNone/>
            </a:pPr>
            <a:r>
              <a:rPr lang="en-US" dirty="0"/>
              <a:t>' ORDER BY 4 -- </a:t>
            </a:r>
          </a:p>
          <a:p>
            <a:endParaRPr lang="en-IN" dirty="0"/>
          </a:p>
        </p:txBody>
      </p:sp>
      <p:pic>
        <p:nvPicPr>
          <p:cNvPr id="4" name="Picture 4" descr="Join Redfox Security: Exciting Career Opportunities Await">
            <a:extLst>
              <a:ext uri="{FF2B5EF4-FFF2-40B4-BE49-F238E27FC236}">
                <a16:creationId xmlns:a16="http://schemas.microsoft.com/office/drawing/2014/main" id="{388AF294-26B3-7AA9-C6FF-0E0B07C3B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543" y="615871"/>
            <a:ext cx="1374483" cy="1374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279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81E56-E78C-19C9-4595-5B832237E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latin typeface="Nunito Sans" pitchFamily="2" charset="0"/>
              </a:rPr>
              <a:t>Mitigations</a:t>
            </a:r>
            <a:endParaRPr lang="en-IN" sz="4000" dirty="0">
              <a:latin typeface="Nunito Sans" pitchFamily="2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DB0B4D7-F2D3-8D47-BCCD-0097332C57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2084456"/>
              </p:ext>
            </p:extLst>
          </p:nvPr>
        </p:nvGraphicFramePr>
        <p:xfrm>
          <a:off x="558800" y="2194560"/>
          <a:ext cx="9735381" cy="3989467"/>
        </p:xfrm>
        <a:graphic>
          <a:graphicData uri="http://schemas.openxmlformats.org/drawingml/2006/table">
            <a:tbl>
              <a:tblPr/>
              <a:tblGrid>
                <a:gridCol w="1717040">
                  <a:extLst>
                    <a:ext uri="{9D8B030D-6E8A-4147-A177-3AD203B41FA5}">
                      <a16:colId xmlns:a16="http://schemas.microsoft.com/office/drawing/2014/main" val="4090860410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817124312"/>
                    </a:ext>
                  </a:extLst>
                </a:gridCol>
                <a:gridCol w="5976181">
                  <a:extLst>
                    <a:ext uri="{9D8B030D-6E8A-4147-A177-3AD203B41FA5}">
                      <a16:colId xmlns:a16="http://schemas.microsoft.com/office/drawing/2014/main" val="1628663523"/>
                    </a:ext>
                  </a:extLst>
                </a:gridCol>
              </a:tblGrid>
              <a:tr h="4651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latin typeface="Nunito Sans" pitchFamily="2" charset="0"/>
                        </a:rPr>
                        <a:t>Attack Type</a:t>
                      </a:r>
                    </a:p>
                  </a:txBody>
                  <a:tcPr marL="69209" marR="69209" marT="34604" marB="3460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latin typeface="Nunito Sans" pitchFamily="2" charset="0"/>
                        </a:rPr>
                        <a:t>Where to Fix</a:t>
                      </a:r>
                    </a:p>
                  </a:txBody>
                  <a:tcPr marL="69209" marR="69209" marT="34604" marB="34604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latin typeface="Nunito Sans" pitchFamily="2" charset="0"/>
                        </a:rPr>
                        <a:t>Exact Action to Take</a:t>
                      </a:r>
                    </a:p>
                  </a:txBody>
                  <a:tcPr marL="69209" marR="69209" marT="34604" marB="34604" anchor="ctr"/>
                </a:tc>
                <a:extLst>
                  <a:ext uri="{0D108BD9-81ED-4DB2-BD59-A6C34878D82A}">
                    <a16:rowId xmlns:a16="http://schemas.microsoft.com/office/drawing/2014/main" val="1434751283"/>
                  </a:ext>
                </a:extLst>
              </a:tr>
              <a:tr h="13854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latin typeface="Nunito Sans" pitchFamily="2" charset="0"/>
                        </a:rPr>
                        <a:t>CSWSH</a:t>
                      </a:r>
                    </a:p>
                  </a:txBody>
                  <a:tcPr marL="69209" marR="69209" marT="34604" marB="3460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Nunito Sans" pitchFamily="2" charset="0"/>
                        </a:rPr>
                        <a:t>Server (Handshake)</a:t>
                      </a:r>
                    </a:p>
                  </a:txBody>
                  <a:tcPr marL="69209" marR="69209" marT="34604" marB="34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Nunito Sans" pitchFamily="2" charset="0"/>
                        </a:rPr>
                        <a:t>Create an "Allow List" of domains. If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Nunito Sans" pitchFamily="2" charset="0"/>
                        </a:rPr>
                        <a:t>req.headers.origin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Nunito Sans" pitchFamily="2" charset="0"/>
                        </a:rPr>
                        <a:t> is not in the list, return 403 Forbidden and destroy the socket.</a:t>
                      </a:r>
                    </a:p>
                  </a:txBody>
                  <a:tcPr marL="69209" marR="69209" marT="34604" marB="34604" anchor="ctr"/>
                </a:tc>
                <a:extLst>
                  <a:ext uri="{0D108BD9-81ED-4DB2-BD59-A6C34878D82A}">
                    <a16:rowId xmlns:a16="http://schemas.microsoft.com/office/drawing/2014/main" val="3234795857"/>
                  </a:ext>
                </a:extLst>
              </a:tr>
              <a:tr h="9721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  <a:latin typeface="Nunito Sans" pitchFamily="2" charset="0"/>
                        </a:rPr>
                        <a:t>XSS</a:t>
                      </a:r>
                    </a:p>
                  </a:txBody>
                  <a:tcPr marL="69209" marR="69209" marT="34604" marB="3460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Nunito Sans" pitchFamily="2" charset="0"/>
                        </a:rPr>
                        <a:t>Client (Browser)</a:t>
                      </a:r>
                    </a:p>
                  </a:txBody>
                  <a:tcPr marL="69209" marR="69209" marT="34604" marB="34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Nunito Sans" pitchFamily="2" charset="0"/>
                        </a:rPr>
                        <a:t>Use .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Nunito Sans" pitchFamily="2" charset="0"/>
                        </a:rPr>
                        <a:t>textContent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Nunito Sans" pitchFamily="2" charset="0"/>
                        </a:rPr>
                        <a:t> instead of .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Nunito Sans" pitchFamily="2" charset="0"/>
                        </a:rPr>
                        <a:t>innerHTML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Nunito Sans" pitchFamily="2" charset="0"/>
                        </a:rPr>
                        <a:t> when displaying messages. </a:t>
                      </a: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Nunito Sans" pitchFamily="2" charset="0"/>
                        </a:rPr>
                        <a:t>If HTML is required, use 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Nunito Sans" pitchFamily="2" charset="0"/>
                        </a:rPr>
                        <a:t>DOMPurify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Nunito Sans" pitchFamily="2" charset="0"/>
                        </a:rPr>
                        <a:t>.</a:t>
                      </a:r>
                    </a:p>
                  </a:txBody>
                  <a:tcPr marL="69209" marR="69209" marT="34604" marB="34604" anchor="ctr"/>
                </a:tc>
                <a:extLst>
                  <a:ext uri="{0D108BD9-81ED-4DB2-BD59-A6C34878D82A}">
                    <a16:rowId xmlns:a16="http://schemas.microsoft.com/office/drawing/2014/main" val="2507095006"/>
                  </a:ext>
                </a:extLst>
              </a:tr>
              <a:tr h="11667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latin typeface="Nunito Sans" pitchFamily="2" charset="0"/>
                        </a:rPr>
                        <a:t>SQLi</a:t>
                      </a:r>
                    </a:p>
                  </a:txBody>
                  <a:tcPr marL="69209" marR="69209" marT="34604" marB="3460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solidFill>
                            <a:schemeClr val="bg1"/>
                          </a:solidFill>
                          <a:latin typeface="Nunito Sans" pitchFamily="2" charset="0"/>
                        </a:rPr>
                        <a:t>Server (Database)</a:t>
                      </a:r>
                    </a:p>
                  </a:txBody>
                  <a:tcPr marL="69209" marR="69209" marT="34604" marB="346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Nunito Sans" pitchFamily="2" charset="0"/>
                        </a:rPr>
                        <a:t>Use Prepared Statements (e.g., $1, ? placeholders) for all database queries triggered by WebSocket messages.</a:t>
                      </a:r>
                    </a:p>
                  </a:txBody>
                  <a:tcPr marL="69209" marR="69209" marT="34604" marB="34604" anchor="ctr"/>
                </a:tc>
                <a:extLst>
                  <a:ext uri="{0D108BD9-81ED-4DB2-BD59-A6C34878D82A}">
                    <a16:rowId xmlns:a16="http://schemas.microsoft.com/office/drawing/2014/main" val="3326769780"/>
                  </a:ext>
                </a:extLst>
              </a:tr>
            </a:tbl>
          </a:graphicData>
        </a:graphic>
      </p:graphicFrame>
      <p:pic>
        <p:nvPicPr>
          <p:cNvPr id="6" name="Picture 4" descr="Join Redfox Security: Exciting Career Opportunities Await">
            <a:extLst>
              <a:ext uri="{FF2B5EF4-FFF2-40B4-BE49-F238E27FC236}">
                <a16:creationId xmlns:a16="http://schemas.microsoft.com/office/drawing/2014/main" id="{7757CFDA-AA90-2D14-1B55-B2751E0D6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543" y="615871"/>
            <a:ext cx="1374483" cy="1374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66342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796000-55ED-8747-6F11-6E840BD5CD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520" y="2463961"/>
            <a:ext cx="8346936" cy="1373070"/>
          </a:xfrm>
        </p:spPr>
        <p:txBody>
          <a:bodyPr/>
          <a:lstStyle/>
          <a:p>
            <a:pPr algn="ctr"/>
            <a:r>
              <a:rPr lang="en-US" sz="4500" dirty="0">
                <a:latin typeface="Nunito Sans" pitchFamily="2" charset="0"/>
              </a:rPr>
              <a:t>Server-Side Template Injection</a:t>
            </a:r>
            <a:endParaRPr lang="en-IN" sz="4500" dirty="0">
              <a:latin typeface="Nunito Sans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A352100-CE70-1B32-C946-2C2FD5BE45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4" descr="Join Redfox Security: Exciting Career Opportunities Await">
            <a:extLst>
              <a:ext uri="{FF2B5EF4-FFF2-40B4-BE49-F238E27FC236}">
                <a16:creationId xmlns:a16="http://schemas.microsoft.com/office/drawing/2014/main" id="{28D3262C-26E4-34DD-A4D2-13F36ECBE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6023" y="2647871"/>
            <a:ext cx="1374483" cy="1374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0244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2317F-8212-0E95-C387-AB67AEABC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latin typeface="Nunito Sans" pitchFamily="2" charset="0"/>
              </a:rPr>
              <a:t>Server-Side HTML Injection</a:t>
            </a:r>
            <a:endParaRPr lang="en-IN" sz="4000" dirty="0">
              <a:latin typeface="Nunito Sans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0739E-6C5E-2135-12E3-F7426BB1E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001" y="2358463"/>
            <a:ext cx="9888181" cy="2975537"/>
          </a:xfrm>
        </p:spPr>
        <p:txBody>
          <a:bodyPr>
            <a:normAutofit/>
          </a:bodyPr>
          <a:lstStyle/>
          <a:p>
            <a:r>
              <a:rPr lang="en-US" sz="1500" dirty="0">
                <a:latin typeface="Nunito Sans" pitchFamily="2" charset="0"/>
              </a:rPr>
              <a:t>Finding Server-Side HTML Injection (SSHI) requires looking for features where your input is </a:t>
            </a:r>
            <a:r>
              <a:rPr lang="en-US" sz="1500" b="1" dirty="0">
                <a:latin typeface="Nunito Sans" pitchFamily="2" charset="0"/>
              </a:rPr>
              <a:t>stored or processed by the server</a:t>
            </a:r>
            <a:r>
              <a:rPr lang="en-US" sz="1500" dirty="0">
                <a:latin typeface="Nunito Sans" pitchFamily="2" charset="0"/>
              </a:rPr>
              <a:t> and subsequently rendered back into a page viewed by yourself or others.</a:t>
            </a:r>
          </a:p>
          <a:p>
            <a:r>
              <a:rPr lang="en-US" sz="1500" dirty="0">
                <a:latin typeface="Nunito Sans" pitchFamily="2" charset="0"/>
              </a:rPr>
              <a:t>Because the server is responsible for building the final HTML string, you should focus on any functionality that acts as a "content creator" or "profile builder."</a:t>
            </a:r>
          </a:p>
          <a:p>
            <a:r>
              <a:rPr lang="en-US" altLang="en-US" sz="1500" dirty="0">
                <a:latin typeface="Nunito Sans" pitchFamily="2" charset="0"/>
              </a:rPr>
              <a:t>The main difference lies in </a:t>
            </a:r>
            <a:r>
              <a:rPr lang="en-US" altLang="en-US" sz="1500" b="1" dirty="0">
                <a:latin typeface="Nunito Sans" pitchFamily="2" charset="0"/>
              </a:rPr>
              <a:t>where the injection is rendered</a:t>
            </a:r>
            <a:endParaRPr lang="en-US" sz="1500" dirty="0">
              <a:latin typeface="Nunito Sans" pitchFamily="2" charset="0"/>
            </a:endParaRPr>
          </a:p>
        </p:txBody>
      </p:sp>
      <p:pic>
        <p:nvPicPr>
          <p:cNvPr id="6" name="Picture 4" descr="Join Redfox Security: Exciting Career Opportunities Await">
            <a:extLst>
              <a:ext uri="{FF2B5EF4-FFF2-40B4-BE49-F238E27FC236}">
                <a16:creationId xmlns:a16="http://schemas.microsoft.com/office/drawing/2014/main" id="{58E6DEB6-F617-ECB1-1E7F-3D3FF833B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7543" y="615871"/>
            <a:ext cx="1374483" cy="1374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3630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C261E-86BA-2A65-91E3-62AC115DD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Nunito Sans" pitchFamily="2" charset="0"/>
              </a:rPr>
              <a:t>SSHI vs Client-Side HTML Injection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571264-D49D-3B8E-4DB7-C451F434D1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1434308"/>
              </p:ext>
            </p:extLst>
          </p:nvPr>
        </p:nvGraphicFramePr>
        <p:xfrm>
          <a:off x="397605" y="2499360"/>
          <a:ext cx="10026555" cy="3749040"/>
        </p:xfrm>
        <a:graphic>
          <a:graphicData uri="http://schemas.openxmlformats.org/drawingml/2006/table">
            <a:tbl>
              <a:tblPr/>
              <a:tblGrid>
                <a:gridCol w="1416255">
                  <a:extLst>
                    <a:ext uri="{9D8B030D-6E8A-4147-A177-3AD203B41FA5}">
                      <a16:colId xmlns:a16="http://schemas.microsoft.com/office/drawing/2014/main" val="4173397550"/>
                    </a:ext>
                  </a:extLst>
                </a:gridCol>
                <a:gridCol w="4404782">
                  <a:extLst>
                    <a:ext uri="{9D8B030D-6E8A-4147-A177-3AD203B41FA5}">
                      <a16:colId xmlns:a16="http://schemas.microsoft.com/office/drawing/2014/main" val="2011658605"/>
                    </a:ext>
                  </a:extLst>
                </a:gridCol>
                <a:gridCol w="4205518">
                  <a:extLst>
                    <a:ext uri="{9D8B030D-6E8A-4147-A177-3AD203B41FA5}">
                      <a16:colId xmlns:a16="http://schemas.microsoft.com/office/drawing/2014/main" val="114572286"/>
                    </a:ext>
                  </a:extLst>
                </a:gridCol>
              </a:tblGrid>
              <a:tr h="528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Feature</a:t>
                      </a:r>
                      <a:endParaRPr lang="en-IN" sz="1400" dirty="0">
                        <a:solidFill>
                          <a:schemeClr val="bg1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Client-Side (Traditional XSS)</a:t>
                      </a:r>
                      <a:endParaRPr lang="en-IN" sz="1400" dirty="0">
                        <a:solidFill>
                          <a:schemeClr val="bg1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Server-Side (SSHI)</a:t>
                      </a:r>
                      <a:endParaRPr lang="en-IN" sz="1400" dirty="0">
                        <a:solidFill>
                          <a:schemeClr val="bg1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17355"/>
                  </a:ext>
                </a:extLst>
              </a:tr>
              <a:tr h="528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Execution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Occurs in the victim's browser via JavaScript.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Occurs on the server during page generation.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553999"/>
                  </a:ext>
                </a:extLst>
              </a:tr>
              <a:tr h="897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Data Flow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The browser receives a script and executes it locally.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The server builds a "corrupted" HTML file and sends it.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447585"/>
                  </a:ext>
                </a:extLst>
              </a:tr>
              <a:tr h="897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Primary Goal</a:t>
                      </a:r>
                      <a:endParaRPr lang="en-IN" sz="1400">
                        <a:solidFill>
                          <a:schemeClr val="bg1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Steal cookies, session tokens, or perform actions as the user.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Deface the site, phish users, or exfiltrate data from the server.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49422"/>
                  </a:ext>
                </a:extLst>
              </a:tr>
              <a:tr h="8976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Persistence</a:t>
                      </a:r>
                      <a:endParaRPr lang="en-IN" sz="1400" dirty="0">
                        <a:solidFill>
                          <a:schemeClr val="bg1"/>
                        </a:solidFill>
                        <a:effectLst/>
                        <a:latin typeface="Nunito Sans" pitchFamily="2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Often temporary (Reflected) or in a database (Stored).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effectLst/>
                          <a:latin typeface="Nunito Sans" pitchFamily="2" charset="0"/>
                        </a:rPr>
                        <a:t>Integrated into the application's response logic.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965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09585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erlin">
    <a:dk1>
      <a:sysClr val="windowText" lastClr="000000"/>
    </a:dk1>
    <a:lt1>
      <a:sysClr val="window" lastClr="FFFFFF"/>
    </a:lt1>
    <a:dk2>
      <a:srgbClr val="9D360E"/>
    </a:dk2>
    <a:lt2>
      <a:srgbClr val="E7E6E6"/>
    </a:lt2>
    <a:accent1>
      <a:srgbClr val="F09415"/>
    </a:accent1>
    <a:accent2>
      <a:srgbClr val="C1B56B"/>
    </a:accent2>
    <a:accent3>
      <a:srgbClr val="4BAF73"/>
    </a:accent3>
    <a:accent4>
      <a:srgbClr val="5AA6C0"/>
    </a:accent4>
    <a:accent5>
      <a:srgbClr val="D17DF9"/>
    </a:accent5>
    <a:accent6>
      <a:srgbClr val="FA7E5C"/>
    </a:accent6>
    <a:hlink>
      <a:srgbClr val="FFAE3E"/>
    </a:hlink>
    <a:folHlink>
      <a:srgbClr val="FCC77E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10782</TotalTime>
  <Words>893</Words>
  <Application>Microsoft Office PowerPoint</Application>
  <PresentationFormat>Widescreen</PresentationFormat>
  <Paragraphs>114</Paragraphs>
  <Slides>11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Nunito Sans</vt:lpstr>
      <vt:lpstr>Trebuchet MS</vt:lpstr>
      <vt:lpstr>Berlin</vt:lpstr>
      <vt:lpstr>PowerPoint Presentation</vt:lpstr>
      <vt:lpstr>WebSockets</vt:lpstr>
      <vt:lpstr>Introduction to WebSockets</vt:lpstr>
      <vt:lpstr>Workflow</vt:lpstr>
      <vt:lpstr>Identify the WebSocket</vt:lpstr>
      <vt:lpstr>HTTP vs WebSockets</vt:lpstr>
      <vt:lpstr>Exploitation</vt:lpstr>
      <vt:lpstr>Mitigations</vt:lpstr>
      <vt:lpstr>Server-Side Template Injection</vt:lpstr>
      <vt:lpstr>Server-Side HTML Injection</vt:lpstr>
      <vt:lpstr>SSHI vs Client-Side HTML Injection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Siddharth Johri</dc:creator>
  <cp:lastModifiedBy>Yash Mehta</cp:lastModifiedBy>
  <cp:revision>344</cp:revision>
  <dcterms:created xsi:type="dcterms:W3CDTF">2025-04-15T11:15:16Z</dcterms:created>
  <dcterms:modified xsi:type="dcterms:W3CDTF">2026-01-30T13:29:21Z</dcterms:modified>
</cp:coreProperties>
</file>