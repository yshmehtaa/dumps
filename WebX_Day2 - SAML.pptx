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theme/themeOverride1.xml" ContentType="application/vnd.openxmlformats-officedocument.themeOverride+xml"/>
  <Override PartName="/ppt/notesSlides/notesSlide1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3" r:id="rId1"/>
  </p:sldMasterIdLst>
  <p:notesMasterIdLst>
    <p:notesMasterId r:id="rId22"/>
  </p:notesMasterIdLst>
  <p:handoutMasterIdLst>
    <p:handoutMasterId r:id="rId23"/>
  </p:handoutMasterIdLst>
  <p:sldIdLst>
    <p:sldId id="1535" r:id="rId2"/>
    <p:sldId id="988" r:id="rId3"/>
    <p:sldId id="878" r:id="rId4"/>
    <p:sldId id="1537" r:id="rId5"/>
    <p:sldId id="881" r:id="rId6"/>
    <p:sldId id="1540" r:id="rId7"/>
    <p:sldId id="1536" r:id="rId8"/>
    <p:sldId id="1542" r:id="rId9"/>
    <p:sldId id="854" r:id="rId10"/>
    <p:sldId id="1543" r:id="rId11"/>
    <p:sldId id="1546" r:id="rId12"/>
    <p:sldId id="1547" r:id="rId13"/>
    <p:sldId id="1548" r:id="rId14"/>
    <p:sldId id="1549" r:id="rId15"/>
    <p:sldId id="1538" r:id="rId16"/>
    <p:sldId id="1550" r:id="rId17"/>
    <p:sldId id="1552" r:id="rId18"/>
    <p:sldId id="1553" r:id="rId19"/>
    <p:sldId id="1551" r:id="rId20"/>
    <p:sldId id="1544"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352E72A-3D7B-BCA6-5775-2DBF839719E1}" name="Anil Rajbhar" initials="AR" userId="S::anil.rajbhar@redfoxsec.com::1ed72047-da3b-4355-b235-2b0f054f459d" providerId="AD"/>
  <p188:author id="{78F3312B-4439-BA4D-E081-60A03CA8E48C}" name="Shashi Prasad" initials="SP" userId="S::shashi.prasad@redfoxsec.com::00805ba9-2270-4cf6-9759-fa25c05006b9" providerId="AD"/>
  <p188:author id="{E25D734C-0EAE-59BA-2436-AA84563A9EE8}" name="Joe Zacharia" initials="JZ" userId="S::joe.zacharia@redfoxsec.com::ed8fbd8a-e0f2-443d-bbc1-0888632c9070" providerId="AD"/>
  <p188:author id="{6D00AD5D-64C5-9130-E176-20388B75593C}" name="Chirag Lundwani" initials="CL" userId="S::chirag.lundwani@redfoxsec.com::94a56f70-d7c0-4b8e-90d7-701d73b0bc2e" providerId="AD"/>
  <p188:author id="{1A292463-A16D-0D0B-8C3A-2E3E50520532}" name="Kunal Kumar" initials="KK" userId="S::kunal.kumar@redfoxsec.com::223a3294-d140-47eb-a965-dbe0f62a924e" providerId="AD"/>
  <p188:author id="{96156D65-BB61-6D64-B8EA-F8F39E2134B0}" name="Guest User" initials="GU" userId="S::urn:spo:anon#282f5376398dd899e065745b09a05774a5fcd6bf857777b8ec3172ac7d36f89e::" providerId="AD"/>
  <p188:author id="{2A8AC195-E9BA-BACD-BDCB-F0F6C07DC5E7}" name="Karan Patel" initials="KP" userId="S::karan.patel@redfoxsec.com::d5390d69-2793-4918-8024-dd7f74686bbf" providerId="AD"/>
  <p188:author id="{2A678E9D-7977-1D6F-7453-1A7EA7ACBFAA}" name="Tarak Sakhardande" initials="TS" userId="S::tarak.sakhardande@redfoxsec.com::032bb29c-83e4-4d53-ad4c-12e77d90f367" providerId="AD"/>
  <p188:author id="{F11D37B9-816D-E87B-081D-FFC952A6722B}" name="Shaunak Khosla" initials="SK" userId="S::shaunak.khosla@redfoxsec.com::0ba0b732-3361-4950-86db-bb52917e53db" providerId="AD"/>
  <p188:author id="{A6C219C7-5702-ED0D-A41C-8A311E79310F}" name="Ganesh Bakare" initials="GB" userId="S::ganesh.bakare@redfoxsec.com::805f99c9-e6f2-4bc1-95ac-86b14cdeab0a" providerId="AD"/>
  <p188:author id="{B45B14F1-4707-376A-70C7-0BF285D4CD02}" name="Joe" initials="JZ" userId="Joe"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anesh Bakare" initials="GB" lastIdx="1" clrIdx="0">
    <p:extLst>
      <p:ext uri="{19B8F6BF-5375-455C-9EA6-DF929625EA0E}">
        <p15:presenceInfo xmlns:p15="http://schemas.microsoft.com/office/powerpoint/2012/main" userId="S::ganesh.bakare@redfoxsec.com::805f99c9-e6f2-4bc1-95ac-86b14cdeab0a"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10207"/>
    <a:srgbClr val="000066"/>
    <a:srgbClr val="FFFF66"/>
    <a:srgbClr val="01081A"/>
    <a:srgbClr val="121C38"/>
    <a:srgbClr val="FF3300"/>
    <a:srgbClr val="6D8A04"/>
    <a:srgbClr val="F7471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994" autoAdjust="0"/>
    <p:restoredTop sz="81356" autoAdjust="0"/>
  </p:normalViewPr>
  <p:slideViewPr>
    <p:cSldViewPr snapToGrid="0">
      <p:cViewPr varScale="1">
        <p:scale>
          <a:sx n="90" d="100"/>
          <a:sy n="90" d="100"/>
        </p:scale>
        <p:origin x="1794" y="84"/>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39BA137-DDDC-BAD6-EF85-6AD803BCC44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a:extLst>
              <a:ext uri="{FF2B5EF4-FFF2-40B4-BE49-F238E27FC236}">
                <a16:creationId xmlns:a16="http://schemas.microsoft.com/office/drawing/2014/main" id="{8EE9710B-7885-4C9A-D859-4F0CD81834C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6F80186-72E7-4BC4-9ED6-7A0971B7CB8A}" type="datetimeFigureOut">
              <a:rPr lang="en-IN" smtClean="0"/>
              <a:t>12-01-2026</a:t>
            </a:fld>
            <a:endParaRPr lang="en-IN"/>
          </a:p>
        </p:txBody>
      </p:sp>
      <p:sp>
        <p:nvSpPr>
          <p:cNvPr id="4" name="Footer Placeholder 3">
            <a:extLst>
              <a:ext uri="{FF2B5EF4-FFF2-40B4-BE49-F238E27FC236}">
                <a16:creationId xmlns:a16="http://schemas.microsoft.com/office/drawing/2014/main" id="{893439E9-DA81-E67E-2618-84F817D9B08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5" name="Slide Number Placeholder 4">
            <a:extLst>
              <a:ext uri="{FF2B5EF4-FFF2-40B4-BE49-F238E27FC236}">
                <a16:creationId xmlns:a16="http://schemas.microsoft.com/office/drawing/2014/main" id="{9CBDE503-E032-2559-D0AB-FCE28C46BAA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33DC623-A06A-436E-97C0-132931AB0253}" type="slidenum">
              <a:rPr lang="en-IN" smtClean="0"/>
              <a:t>‹#›</a:t>
            </a:fld>
            <a:endParaRPr lang="en-IN"/>
          </a:p>
        </p:txBody>
      </p:sp>
    </p:spTree>
    <p:extLst>
      <p:ext uri="{BB962C8B-B14F-4D97-AF65-F5344CB8AC3E}">
        <p14:creationId xmlns:p14="http://schemas.microsoft.com/office/powerpoint/2010/main" val="289756951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CBA4BF-E2FE-4F73-B401-39ACF88172F3}" type="datetimeFigureOut">
              <a:rPr lang="en-IN" smtClean="0"/>
              <a:t>12-01-2026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E13E72A-365B-46BD-943A-CE33ADDF3B11}" type="slidenum">
              <a:rPr lang="en-IN" smtClean="0"/>
              <a:t>‹#›</a:t>
            </a:fld>
            <a:endParaRPr lang="en-IN"/>
          </a:p>
        </p:txBody>
      </p:sp>
    </p:spTree>
    <p:extLst>
      <p:ext uri="{BB962C8B-B14F-4D97-AF65-F5344CB8AC3E}">
        <p14:creationId xmlns:p14="http://schemas.microsoft.com/office/powerpoint/2010/main" val="11945354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5"/>
          </p:nvPr>
        </p:nvSpPr>
        <p:spPr/>
        <p:txBody>
          <a:bodyPr/>
          <a:lstStyle/>
          <a:p>
            <a:fld id="{3E13E72A-365B-46BD-943A-CE33ADDF3B11}" type="slidenum">
              <a:rPr lang="en-IN" smtClean="0"/>
              <a:t>1</a:t>
            </a:fld>
            <a:endParaRPr lang="en-IN"/>
          </a:p>
        </p:txBody>
      </p:sp>
    </p:spTree>
    <p:extLst>
      <p:ext uri="{BB962C8B-B14F-4D97-AF65-F5344CB8AC3E}">
        <p14:creationId xmlns:p14="http://schemas.microsoft.com/office/powerpoint/2010/main" val="11880194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3E13E72A-365B-46BD-943A-CE33ADDF3B11}" type="slidenum">
              <a:rPr lang="en-IN" smtClean="0"/>
              <a:t>3</a:t>
            </a:fld>
            <a:endParaRPr lang="en-IN"/>
          </a:p>
        </p:txBody>
      </p:sp>
    </p:spTree>
    <p:extLst>
      <p:ext uri="{BB962C8B-B14F-4D97-AF65-F5344CB8AC3E}">
        <p14:creationId xmlns:p14="http://schemas.microsoft.com/office/powerpoint/2010/main" val="21892284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Companies which provide the SAML Authentication, give examples for it. </a:t>
            </a:r>
          </a:p>
        </p:txBody>
      </p:sp>
      <p:sp>
        <p:nvSpPr>
          <p:cNvPr id="4" name="Slide Number Placeholder 3"/>
          <p:cNvSpPr>
            <a:spLocks noGrp="1"/>
          </p:cNvSpPr>
          <p:nvPr>
            <p:ph type="sldNum" sz="quarter" idx="5"/>
          </p:nvPr>
        </p:nvSpPr>
        <p:spPr/>
        <p:txBody>
          <a:bodyPr/>
          <a:lstStyle/>
          <a:p>
            <a:fld id="{3E13E72A-365B-46BD-943A-CE33ADDF3B11}" type="slidenum">
              <a:rPr lang="en-IN" smtClean="0"/>
              <a:t>4</a:t>
            </a:fld>
            <a:endParaRPr lang="en-IN"/>
          </a:p>
        </p:txBody>
      </p:sp>
    </p:spTree>
    <p:extLst>
      <p:ext uri="{BB962C8B-B14F-4D97-AF65-F5344CB8AC3E}">
        <p14:creationId xmlns:p14="http://schemas.microsoft.com/office/powerpoint/2010/main" val="15905542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SAML transports signed XML assertions that allow one security domain to authenticate users for another, enabling SSO and identity federation without sharing credentials.</a:t>
            </a:r>
          </a:p>
          <a:p>
            <a:r>
              <a:rPr lang="en-US" dirty="0"/>
              <a:t> </a:t>
            </a:r>
            <a:endParaRPr lang="en-IN" dirty="0"/>
          </a:p>
        </p:txBody>
      </p:sp>
      <p:sp>
        <p:nvSpPr>
          <p:cNvPr id="4" name="Slide Number Placeholder 3"/>
          <p:cNvSpPr>
            <a:spLocks noGrp="1"/>
          </p:cNvSpPr>
          <p:nvPr>
            <p:ph type="sldNum" sz="quarter" idx="5"/>
          </p:nvPr>
        </p:nvSpPr>
        <p:spPr/>
        <p:txBody>
          <a:bodyPr/>
          <a:lstStyle/>
          <a:p>
            <a:fld id="{3E13E72A-365B-46BD-943A-CE33ADDF3B11}" type="slidenum">
              <a:rPr lang="en-IN" smtClean="0"/>
              <a:t>5</a:t>
            </a:fld>
            <a:endParaRPr lang="en-IN"/>
          </a:p>
        </p:txBody>
      </p:sp>
    </p:spTree>
    <p:extLst>
      <p:ext uri="{BB962C8B-B14F-4D97-AF65-F5344CB8AC3E}">
        <p14:creationId xmlns:p14="http://schemas.microsoft.com/office/powerpoint/2010/main" val="9776304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3E13E72A-365B-46BD-943A-CE33ADDF3B11}" type="slidenum">
              <a:rPr lang="en-IN" smtClean="0"/>
              <a:t>6</a:t>
            </a:fld>
            <a:endParaRPr lang="en-IN"/>
          </a:p>
        </p:txBody>
      </p:sp>
    </p:spTree>
    <p:extLst>
      <p:ext uri="{BB962C8B-B14F-4D97-AF65-F5344CB8AC3E}">
        <p14:creationId xmlns:p14="http://schemas.microsoft.com/office/powerpoint/2010/main" val="18083559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1" i="0" kern="1200" dirty="0">
                <a:solidFill>
                  <a:schemeClr val="tx1"/>
                </a:solidFill>
                <a:effectLst/>
                <a:latin typeface="+mn-lt"/>
                <a:ea typeface="+mn-ea"/>
                <a:cs typeface="+mn-cs"/>
              </a:rPr>
              <a:t>IdP creates assertion</a:t>
            </a:r>
            <a:r>
              <a:rPr lang="en-US" sz="1200" b="0" i="0" kern="1200" dirty="0">
                <a:solidFill>
                  <a:schemeClr val="tx1"/>
                </a:solidFill>
                <a:effectLst/>
                <a:latin typeface="+mn-lt"/>
                <a:ea typeface="+mn-ea"/>
                <a:cs typeface="+mn-cs"/>
              </a:rPr>
              <a:t>: IdP gathers user info and creates an XML SAML Assertion.</a:t>
            </a:r>
          </a:p>
          <a:p>
            <a:r>
              <a:rPr lang="en-US" sz="1200" b="1" i="0" kern="1200" dirty="0">
                <a:solidFill>
                  <a:schemeClr val="tx1"/>
                </a:solidFill>
                <a:effectLst/>
                <a:latin typeface="+mn-lt"/>
                <a:ea typeface="+mn-ea"/>
                <a:cs typeface="+mn-cs"/>
              </a:rPr>
              <a:t>IdP signs</a:t>
            </a:r>
            <a:r>
              <a:rPr lang="en-US" sz="1200" b="0" i="0" kern="1200" dirty="0">
                <a:solidFill>
                  <a:schemeClr val="tx1"/>
                </a:solidFill>
                <a:effectLst/>
                <a:latin typeface="+mn-lt"/>
                <a:ea typeface="+mn-ea"/>
                <a:cs typeface="+mn-cs"/>
              </a:rPr>
              <a:t>: IdP hashes the assertion using a </a:t>
            </a:r>
            <a:r>
              <a:rPr lang="en-US" sz="1200" b="1" i="0" kern="1200" dirty="0">
                <a:solidFill>
                  <a:schemeClr val="tx1"/>
                </a:solidFill>
                <a:effectLst/>
                <a:latin typeface="+mn-lt"/>
                <a:ea typeface="+mn-ea"/>
                <a:cs typeface="+mn-cs"/>
              </a:rPr>
              <a:t>Signature Method</a:t>
            </a:r>
            <a:r>
              <a:rPr lang="en-US" sz="1200" b="0" i="0" kern="1200" dirty="0">
                <a:solidFill>
                  <a:schemeClr val="tx1"/>
                </a:solidFill>
                <a:effectLst/>
                <a:latin typeface="+mn-lt"/>
                <a:ea typeface="+mn-ea"/>
                <a:cs typeface="+mn-cs"/>
              </a:rPr>
              <a:t> (e.g., SHA-256) and encrypts the hash with its </a:t>
            </a:r>
            <a:r>
              <a:rPr lang="en-US" sz="1200" b="1" i="0" kern="1200" dirty="0">
                <a:solidFill>
                  <a:schemeClr val="tx1"/>
                </a:solidFill>
                <a:effectLst/>
                <a:latin typeface="+mn-lt"/>
                <a:ea typeface="+mn-ea"/>
                <a:cs typeface="+mn-cs"/>
              </a:rPr>
              <a:t>private key</a:t>
            </a:r>
            <a:r>
              <a:rPr lang="en-US" sz="1200" b="0" i="0" kern="1200" dirty="0">
                <a:solidFill>
                  <a:schemeClr val="tx1"/>
                </a:solidFill>
                <a:effectLst/>
                <a:latin typeface="+mn-lt"/>
                <a:ea typeface="+mn-ea"/>
                <a:cs typeface="+mn-cs"/>
              </a:rPr>
              <a:t>.</a:t>
            </a:r>
          </a:p>
          <a:p>
            <a:r>
              <a:rPr lang="en-US" sz="1200" b="1" i="0" kern="1200" dirty="0">
                <a:solidFill>
                  <a:schemeClr val="tx1"/>
                </a:solidFill>
                <a:effectLst/>
                <a:latin typeface="+mn-lt"/>
                <a:ea typeface="+mn-ea"/>
                <a:cs typeface="+mn-cs"/>
              </a:rPr>
              <a:t>IdP sends</a:t>
            </a:r>
            <a:r>
              <a:rPr lang="en-US" sz="1200" b="0" i="0" kern="1200" dirty="0">
                <a:solidFill>
                  <a:schemeClr val="tx1"/>
                </a:solidFill>
                <a:effectLst/>
                <a:latin typeface="+mn-lt"/>
                <a:ea typeface="+mn-ea"/>
                <a:cs typeface="+mn-cs"/>
              </a:rPr>
              <a:t>: IdP sends the assertion along with its </a:t>
            </a:r>
            <a:r>
              <a:rPr lang="en-US" sz="1200" b="1" i="0" kern="1200" dirty="0">
                <a:solidFill>
                  <a:schemeClr val="tx1"/>
                </a:solidFill>
                <a:effectLst/>
                <a:latin typeface="+mn-lt"/>
                <a:ea typeface="+mn-ea"/>
                <a:cs typeface="+mn-cs"/>
              </a:rPr>
              <a:t>X.509 certificate</a:t>
            </a:r>
            <a:r>
              <a:rPr lang="en-US" sz="1200" b="0" i="0" kern="1200" dirty="0">
                <a:solidFill>
                  <a:schemeClr val="tx1"/>
                </a:solidFill>
                <a:effectLst/>
                <a:latin typeface="+mn-lt"/>
                <a:ea typeface="+mn-ea"/>
                <a:cs typeface="+mn-cs"/>
              </a:rPr>
              <a:t> (containing the public key) to the SP.</a:t>
            </a:r>
          </a:p>
          <a:p>
            <a:r>
              <a:rPr lang="en-US" sz="1200" b="1" i="0" kern="1200" dirty="0">
                <a:solidFill>
                  <a:schemeClr val="tx1"/>
                </a:solidFill>
                <a:effectLst/>
                <a:latin typeface="+mn-lt"/>
                <a:ea typeface="+mn-ea"/>
                <a:cs typeface="+mn-cs"/>
              </a:rPr>
              <a:t>SP verifies</a:t>
            </a:r>
            <a:r>
              <a:rPr lang="en-US" sz="1200" b="0" i="0" kern="1200" dirty="0">
                <a:solidFill>
                  <a:schemeClr val="tx1"/>
                </a:solidFill>
                <a:effectLst/>
                <a:latin typeface="+mn-lt"/>
                <a:ea typeface="+mn-ea"/>
                <a:cs typeface="+mn-cs"/>
              </a:rPr>
              <a:t>: SP uses the </a:t>
            </a:r>
            <a:r>
              <a:rPr lang="en-US" sz="1200" b="1" i="0" kern="1200" dirty="0">
                <a:solidFill>
                  <a:schemeClr val="tx1"/>
                </a:solidFill>
                <a:effectLst/>
                <a:latin typeface="+mn-lt"/>
                <a:ea typeface="+mn-ea"/>
                <a:cs typeface="+mn-cs"/>
              </a:rPr>
              <a:t>public key</a:t>
            </a:r>
            <a:r>
              <a:rPr lang="en-US" sz="1200" b="0" i="0" kern="1200" dirty="0">
                <a:solidFill>
                  <a:schemeClr val="tx1"/>
                </a:solidFill>
                <a:effectLst/>
                <a:latin typeface="+mn-lt"/>
                <a:ea typeface="+mn-ea"/>
                <a:cs typeface="+mn-cs"/>
              </a:rPr>
              <a:t> from the X.509 certificate to decrypt the signature. It then independently hashes the received assertion using the same </a:t>
            </a:r>
            <a:r>
              <a:rPr lang="en-US" sz="1200" b="1" i="0" kern="1200" dirty="0">
                <a:solidFill>
                  <a:schemeClr val="tx1"/>
                </a:solidFill>
                <a:effectLst/>
                <a:latin typeface="+mn-lt"/>
                <a:ea typeface="+mn-ea"/>
                <a:cs typeface="+mn-cs"/>
              </a:rPr>
              <a:t>Signature Method</a:t>
            </a:r>
            <a:r>
              <a:rPr lang="en-US" sz="1200" b="0" i="0" kern="1200" dirty="0">
                <a:solidFill>
                  <a:schemeClr val="tx1"/>
                </a:solidFill>
                <a:effectLst/>
                <a:latin typeface="+mn-lt"/>
                <a:ea typeface="+mn-ea"/>
                <a:cs typeface="+mn-cs"/>
              </a:rPr>
              <a:t> and compares the hashes. If they match, the message is authentic and untampered.</a:t>
            </a:r>
          </a:p>
          <a:p>
            <a:endParaRPr lang="en-IN" dirty="0"/>
          </a:p>
        </p:txBody>
      </p:sp>
      <p:sp>
        <p:nvSpPr>
          <p:cNvPr id="4" name="Slide Number Placeholder 3"/>
          <p:cNvSpPr>
            <a:spLocks noGrp="1"/>
          </p:cNvSpPr>
          <p:nvPr>
            <p:ph type="sldNum" sz="quarter" idx="5"/>
          </p:nvPr>
        </p:nvSpPr>
        <p:spPr/>
        <p:txBody>
          <a:bodyPr/>
          <a:lstStyle/>
          <a:p>
            <a:fld id="{3E13E72A-365B-46BD-943A-CE33ADDF3B11}" type="slidenum">
              <a:rPr lang="en-IN" smtClean="0"/>
              <a:t>9</a:t>
            </a:fld>
            <a:endParaRPr lang="en-IN"/>
          </a:p>
        </p:txBody>
      </p:sp>
    </p:spTree>
    <p:extLst>
      <p:ext uri="{BB962C8B-B14F-4D97-AF65-F5344CB8AC3E}">
        <p14:creationId xmlns:p14="http://schemas.microsoft.com/office/powerpoint/2010/main" val="1630568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3E13E72A-365B-46BD-943A-CE33ADDF3B11}" type="slidenum">
              <a:rPr lang="en-IN" smtClean="0"/>
              <a:t>10</a:t>
            </a:fld>
            <a:endParaRPr lang="en-IN"/>
          </a:p>
        </p:txBody>
      </p:sp>
    </p:spTree>
    <p:extLst>
      <p:ext uri="{BB962C8B-B14F-4D97-AF65-F5344CB8AC3E}">
        <p14:creationId xmlns:p14="http://schemas.microsoft.com/office/powerpoint/2010/main" val="306602561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3E13E72A-365B-46BD-943A-CE33ADDF3B11}" type="slidenum">
              <a:rPr lang="en-IN" smtClean="0"/>
              <a:t>12</a:t>
            </a:fld>
            <a:endParaRPr lang="en-IN"/>
          </a:p>
        </p:txBody>
      </p:sp>
    </p:spTree>
    <p:extLst>
      <p:ext uri="{BB962C8B-B14F-4D97-AF65-F5344CB8AC3E}">
        <p14:creationId xmlns:p14="http://schemas.microsoft.com/office/powerpoint/2010/main" val="234488841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3E13E72A-365B-46BD-943A-CE33ADDF3B11}" type="slidenum">
              <a:rPr lang="en-IN" smtClean="0"/>
              <a:t>14</a:t>
            </a:fld>
            <a:endParaRPr lang="en-IN"/>
          </a:p>
        </p:txBody>
      </p:sp>
    </p:spTree>
    <p:extLst>
      <p:ext uri="{BB962C8B-B14F-4D97-AF65-F5344CB8AC3E}">
        <p14:creationId xmlns:p14="http://schemas.microsoft.com/office/powerpoint/2010/main" val="36507526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3E13E72A-365B-46BD-943A-CE33ADDF3B11}" type="slidenum">
              <a:rPr lang="en-IN" smtClean="0"/>
              <a:t>18</a:t>
            </a:fld>
            <a:endParaRPr lang="en-IN"/>
          </a:p>
        </p:txBody>
      </p:sp>
    </p:spTree>
    <p:extLst>
      <p:ext uri="{BB962C8B-B14F-4D97-AF65-F5344CB8AC3E}">
        <p14:creationId xmlns:p14="http://schemas.microsoft.com/office/powerpoint/2010/main" val="5025416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3E13E72A-365B-46BD-943A-CE33ADDF3B11}" type="slidenum">
              <a:rPr lang="en-IN" smtClean="0"/>
              <a:t>19</a:t>
            </a:fld>
            <a:endParaRPr lang="en-IN"/>
          </a:p>
        </p:txBody>
      </p:sp>
    </p:spTree>
    <p:extLst>
      <p:ext uri="{BB962C8B-B14F-4D97-AF65-F5344CB8AC3E}">
        <p14:creationId xmlns:p14="http://schemas.microsoft.com/office/powerpoint/2010/main" val="1149732490"/>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242851"/>
            <a:ext cx="8968084" cy="275942"/>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11716" y="4243845"/>
            <a:ext cx="3077108" cy="276940"/>
          </a:xfrm>
          <a:prstGeom prst="rect">
            <a:avLst/>
          </a:prstGeom>
        </p:spPr>
      </p:pic>
      <p:sp>
        <p:nvSpPr>
          <p:cNvPr id="9" name="Rectangle 8"/>
          <p:cNvSpPr/>
          <p:nvPr/>
        </p:nvSpPr>
        <p:spPr bwMode="ltGray">
          <a:xfrm>
            <a:off x="0" y="2590078"/>
            <a:ext cx="8968085" cy="1660332"/>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9111715" y="2590078"/>
            <a:ext cx="3077109" cy="16603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680322" y="2733709"/>
            <a:ext cx="8144134" cy="1373070"/>
          </a:xfrm>
        </p:spPr>
        <p:txBody>
          <a:bodyPr anchor="b">
            <a:noAutofit/>
          </a:bodyPr>
          <a:lstStyle>
            <a:lvl1pPr algn="r">
              <a:defRPr sz="5400"/>
            </a:lvl1pPr>
          </a:lstStyle>
          <a:p>
            <a:r>
              <a:rPr lang="en-US"/>
              <a:t>Click to edit Master title style</a:t>
            </a:r>
          </a:p>
        </p:txBody>
      </p:sp>
      <p:sp>
        <p:nvSpPr>
          <p:cNvPr id="3" name="Subtitle 2"/>
          <p:cNvSpPr>
            <a:spLocks noGrp="1"/>
          </p:cNvSpPr>
          <p:nvPr>
            <p:ph type="subTitle" idx="1"/>
          </p:nvPr>
        </p:nvSpPr>
        <p:spPr>
          <a:xfrm>
            <a:off x="680322" y="4394039"/>
            <a:ext cx="8144134" cy="1117687"/>
          </a:xfrm>
        </p:spPr>
        <p:txBody>
          <a:bodyPr>
            <a:normAutofit/>
          </a:bodyPr>
          <a:lstStyle>
            <a:lvl1pPr marL="0" indent="0" algn="r">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36FA74D8-DFA5-4F13-B273-46A9DDD20083}" type="datetimeFigureOut">
              <a:rPr lang="en-IN" smtClean="0"/>
              <a:t>12-01-2026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a:xfrm>
            <a:off x="9255346" y="2750337"/>
            <a:ext cx="1171888" cy="1356442"/>
          </a:xfrm>
        </p:spPr>
        <p:txBody>
          <a:bodyPr/>
          <a:lstStyle/>
          <a:p>
            <a:fld id="{59AFD80B-6B9A-4ACD-8F08-522BAAD8CB2F}" type="slidenum">
              <a:rPr lang="en-IN" smtClean="0"/>
              <a:t>‹#›</a:t>
            </a:fld>
            <a:endParaRPr lang="en-IN"/>
          </a:p>
        </p:txBody>
      </p:sp>
    </p:spTree>
    <p:extLst>
      <p:ext uri="{BB962C8B-B14F-4D97-AF65-F5344CB8AC3E}">
        <p14:creationId xmlns:p14="http://schemas.microsoft.com/office/powerpoint/2010/main" val="36754230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9_Title and Content">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userDrawn="1"/>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Rounded Corners 7">
            <a:extLst>
              <a:ext uri="{FF2B5EF4-FFF2-40B4-BE49-F238E27FC236}">
                <a16:creationId xmlns:a16="http://schemas.microsoft.com/office/drawing/2014/main" id="{CB365344-5AA1-BB76-B475-21DED10E971C}"/>
              </a:ext>
            </a:extLst>
          </p:cNvPr>
          <p:cNvSpPr/>
          <p:nvPr userDrawn="1"/>
        </p:nvSpPr>
        <p:spPr>
          <a:xfrm>
            <a:off x="177564" y="5429756"/>
            <a:ext cx="11847199" cy="882031"/>
          </a:xfrm>
          <a:prstGeom prst="roundRect">
            <a:avLst/>
          </a:prstGeom>
          <a:solidFill>
            <a:schemeClr val="bg1">
              <a:lumMod val="85000"/>
              <a:lumOff val="1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Rounded Corners 8">
            <a:extLst>
              <a:ext uri="{FF2B5EF4-FFF2-40B4-BE49-F238E27FC236}">
                <a16:creationId xmlns:a16="http://schemas.microsoft.com/office/drawing/2014/main" id="{1C4D64EB-FCC0-10FD-8E72-7DC5C75E73DA}"/>
              </a:ext>
            </a:extLst>
          </p:cNvPr>
          <p:cNvSpPr/>
          <p:nvPr userDrawn="1"/>
        </p:nvSpPr>
        <p:spPr>
          <a:xfrm>
            <a:off x="177565" y="3819513"/>
            <a:ext cx="11847200" cy="944079"/>
          </a:xfrm>
          <a:prstGeom prst="roundRect">
            <a:avLst/>
          </a:prstGeom>
          <a:solidFill>
            <a:schemeClr val="bg1">
              <a:lumMod val="85000"/>
              <a:lumOff val="1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Rounded Corners 9">
            <a:extLst>
              <a:ext uri="{FF2B5EF4-FFF2-40B4-BE49-F238E27FC236}">
                <a16:creationId xmlns:a16="http://schemas.microsoft.com/office/drawing/2014/main" id="{B2003DA5-D6F9-B572-E52A-266045A55DB2}"/>
              </a:ext>
            </a:extLst>
          </p:cNvPr>
          <p:cNvSpPr/>
          <p:nvPr userDrawn="1"/>
        </p:nvSpPr>
        <p:spPr>
          <a:xfrm>
            <a:off x="177565" y="2580815"/>
            <a:ext cx="11847200" cy="457673"/>
          </a:xfrm>
          <a:prstGeom prst="roundRect">
            <a:avLst/>
          </a:prstGeom>
          <a:solidFill>
            <a:schemeClr val="bg1">
              <a:lumMod val="85000"/>
              <a:lumOff val="1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35462206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dirty="0"/>
          </a:p>
        </p:txBody>
      </p:sp>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6FA74D8-DFA5-4F13-B273-46A9DDD20083}" type="datetimeFigureOut">
              <a:rPr lang="en-IN" smtClean="0"/>
              <a:t>12-01-2026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9AFD80B-6B9A-4ACD-8F08-522BAAD8CB2F}" type="slidenum">
              <a:rPr lang="en-IN" smtClean="0"/>
              <a:t>‹#›</a:t>
            </a:fld>
            <a:endParaRPr lang="en-IN" dirty="0"/>
          </a:p>
        </p:txBody>
      </p:sp>
      <p:pic>
        <p:nvPicPr>
          <p:cNvPr id="8" name="Picture 4" descr="Join Redfox Security: Exciting Career Opportunities Await">
            <a:extLst>
              <a:ext uri="{FF2B5EF4-FFF2-40B4-BE49-F238E27FC236}">
                <a16:creationId xmlns:a16="http://schemas.microsoft.com/office/drawing/2014/main" id="{C07980BD-634C-ABE9-FE68-12F23AE7576A}"/>
              </a:ext>
            </a:extLst>
          </p:cNvPr>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a:off x="10768077" y="663485"/>
            <a:ext cx="1230443" cy="12304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974392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0_Title and Content">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userDrawn="1"/>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 name="Rectangle: Rounded Corners 2">
            <a:extLst>
              <a:ext uri="{FF2B5EF4-FFF2-40B4-BE49-F238E27FC236}">
                <a16:creationId xmlns:a16="http://schemas.microsoft.com/office/drawing/2014/main" id="{FE4ACBCE-FF0B-3FD7-2A4B-96AABAC35216}"/>
              </a:ext>
            </a:extLst>
          </p:cNvPr>
          <p:cNvSpPr/>
          <p:nvPr userDrawn="1"/>
        </p:nvSpPr>
        <p:spPr>
          <a:xfrm>
            <a:off x="234669" y="5931461"/>
            <a:ext cx="11587795" cy="558351"/>
          </a:xfrm>
          <a:prstGeom prst="roundRect">
            <a:avLst/>
          </a:prstGeom>
          <a:solidFill>
            <a:schemeClr val="bg1">
              <a:lumMod val="85000"/>
              <a:lumOff val="1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Rectangle: Rounded Corners 3">
            <a:extLst>
              <a:ext uri="{FF2B5EF4-FFF2-40B4-BE49-F238E27FC236}">
                <a16:creationId xmlns:a16="http://schemas.microsoft.com/office/drawing/2014/main" id="{4DD3703F-AC9C-7AAF-8B0C-28892D978D46}"/>
              </a:ext>
            </a:extLst>
          </p:cNvPr>
          <p:cNvSpPr/>
          <p:nvPr userDrawn="1"/>
        </p:nvSpPr>
        <p:spPr>
          <a:xfrm>
            <a:off x="302102" y="4401055"/>
            <a:ext cx="11587795" cy="558351"/>
          </a:xfrm>
          <a:prstGeom prst="roundRect">
            <a:avLst/>
          </a:prstGeom>
          <a:solidFill>
            <a:schemeClr val="bg1">
              <a:lumMod val="85000"/>
              <a:lumOff val="1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Rectangle: Rounded Corners 4">
            <a:extLst>
              <a:ext uri="{FF2B5EF4-FFF2-40B4-BE49-F238E27FC236}">
                <a16:creationId xmlns:a16="http://schemas.microsoft.com/office/drawing/2014/main" id="{0A915646-ACA5-9381-FCA7-7FA03CA6E61D}"/>
              </a:ext>
            </a:extLst>
          </p:cNvPr>
          <p:cNvSpPr/>
          <p:nvPr userDrawn="1"/>
        </p:nvSpPr>
        <p:spPr>
          <a:xfrm>
            <a:off x="302102" y="2870649"/>
            <a:ext cx="11587795" cy="558351"/>
          </a:xfrm>
          <a:prstGeom prst="roundRect">
            <a:avLst/>
          </a:prstGeom>
          <a:solidFill>
            <a:schemeClr val="bg1">
              <a:lumMod val="85000"/>
              <a:lumOff val="1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16928689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7_Title and Content">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p>
        </p:txBody>
      </p:sp>
      <p:sp>
        <p:nvSpPr>
          <p:cNvPr id="6" name="Slide Number Placeholder 5"/>
          <p:cNvSpPr>
            <a:spLocks noGrp="1"/>
          </p:cNvSpPr>
          <p:nvPr>
            <p:ph type="sldNum" sz="quarter" idx="12"/>
          </p:nvPr>
        </p:nvSpPr>
        <p:spPr/>
        <p:txBody>
          <a:bodyPr/>
          <a:lstStyle/>
          <a:p>
            <a:fld id="{59AFD80B-6B9A-4ACD-8F08-522BAAD8CB2F}" type="slidenum">
              <a:rPr lang="en-IN" smtClean="0"/>
              <a:t>‹#›</a:t>
            </a:fld>
            <a:endParaRPr lang="en-IN"/>
          </a:p>
        </p:txBody>
      </p:sp>
      <p:sp>
        <p:nvSpPr>
          <p:cNvPr id="10" name="Rectangle: Rounded Corners 9">
            <a:extLst>
              <a:ext uri="{FF2B5EF4-FFF2-40B4-BE49-F238E27FC236}">
                <a16:creationId xmlns:a16="http://schemas.microsoft.com/office/drawing/2014/main" id="{469BB1A6-EDF6-7730-4EB7-3FEC84E07882}"/>
              </a:ext>
            </a:extLst>
          </p:cNvPr>
          <p:cNvSpPr/>
          <p:nvPr userDrawn="1"/>
        </p:nvSpPr>
        <p:spPr>
          <a:xfrm>
            <a:off x="234669" y="3265610"/>
            <a:ext cx="7468948" cy="1897109"/>
          </a:xfrm>
          <a:prstGeom prst="roundRect">
            <a:avLst/>
          </a:prstGeom>
          <a:solidFill>
            <a:schemeClr val="bg1">
              <a:lumMod val="85000"/>
              <a:lumOff val="1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Rectangle: Rounded Corners 10">
            <a:extLst>
              <a:ext uri="{FF2B5EF4-FFF2-40B4-BE49-F238E27FC236}">
                <a16:creationId xmlns:a16="http://schemas.microsoft.com/office/drawing/2014/main" id="{173847D2-EB4E-3715-7A25-EFC953E7C30D}"/>
              </a:ext>
            </a:extLst>
          </p:cNvPr>
          <p:cNvSpPr/>
          <p:nvPr userDrawn="1"/>
        </p:nvSpPr>
        <p:spPr>
          <a:xfrm>
            <a:off x="234669" y="5931461"/>
            <a:ext cx="11587795" cy="558351"/>
          </a:xfrm>
          <a:prstGeom prst="roundRect">
            <a:avLst/>
          </a:prstGeom>
          <a:solidFill>
            <a:schemeClr val="bg1">
              <a:lumMod val="85000"/>
              <a:lumOff val="1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2649043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086907"/>
            <a:ext cx="10437812" cy="321164"/>
          </a:xfrm>
          <a:prstGeom prst="rect">
            <a:avLst/>
          </a:prstGeom>
        </p:spPr>
      </p:pic>
      <p:pic>
        <p:nvPicPr>
          <p:cNvPr id="8" name="Picture 7" descr="HD-ShadowShort.png"/>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585824" y="4087901"/>
            <a:ext cx="1602997" cy="144270"/>
          </a:xfrm>
          <a:prstGeom prst="rect">
            <a:avLst/>
          </a:prstGeom>
        </p:spPr>
      </p:pic>
      <p:sp>
        <p:nvSpPr>
          <p:cNvPr id="9" name="Rectangle 8"/>
          <p:cNvSpPr/>
          <p:nvPr/>
        </p:nvSpPr>
        <p:spPr bwMode="ltGray">
          <a:xfrm>
            <a:off x="-2" y="2726267"/>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5" y="2726267"/>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2869895"/>
            <a:ext cx="9613860" cy="1090788"/>
          </a:xfrm>
        </p:spPr>
        <p:txBody>
          <a:bodyPr anchor="ctr">
            <a:normAutofit/>
          </a:bodyPr>
          <a:lstStyle>
            <a:lvl1pPr algn="r">
              <a:defRPr sz="3600"/>
            </a:lvl1pPr>
          </a:lstStyle>
          <a:p>
            <a:r>
              <a:rPr lang="en-US"/>
              <a:t>Click to edit Master title style</a:t>
            </a:r>
          </a:p>
        </p:txBody>
      </p:sp>
      <p:sp>
        <p:nvSpPr>
          <p:cNvPr id="3" name="Text Placeholder 2"/>
          <p:cNvSpPr>
            <a:spLocks noGrp="1"/>
          </p:cNvSpPr>
          <p:nvPr>
            <p:ph type="body" idx="1"/>
          </p:nvPr>
        </p:nvSpPr>
        <p:spPr>
          <a:xfrm>
            <a:off x="680322" y="4232171"/>
            <a:ext cx="9613860" cy="1704017"/>
          </a:xfrm>
        </p:spPr>
        <p:txBody>
          <a:bodyPr>
            <a:normAutofit/>
          </a:bodyPr>
          <a:lstStyle>
            <a:lvl1pPr marL="0" indent="0" algn="r">
              <a:buNone/>
              <a:defRPr sz="20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6FA74D8-DFA5-4F13-B273-46A9DDD20083}" type="datetimeFigureOut">
              <a:rPr lang="en-IN" smtClean="0"/>
              <a:t>12-01-2026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a:xfrm>
            <a:off x="10729455" y="2869895"/>
            <a:ext cx="1154151" cy="1090789"/>
          </a:xfrm>
        </p:spPr>
        <p:txBody>
          <a:bodyPr/>
          <a:lstStyle/>
          <a:p>
            <a:fld id="{59AFD80B-6B9A-4ACD-8F08-522BAAD8CB2F}" type="slidenum">
              <a:rPr lang="en-IN" smtClean="0"/>
              <a:t>‹#›</a:t>
            </a:fld>
            <a:endParaRPr lang="en-IN"/>
          </a:p>
        </p:txBody>
      </p:sp>
    </p:spTree>
    <p:extLst>
      <p:ext uri="{BB962C8B-B14F-4D97-AF65-F5344CB8AC3E}">
        <p14:creationId xmlns:p14="http://schemas.microsoft.com/office/powerpoint/2010/main" val="31651735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HD-ShadowLong.png"/>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userDrawn="1"/>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userDrawn="1"/>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0320" y="2336873"/>
            <a:ext cx="4698358" cy="35993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594123" y="2336873"/>
            <a:ext cx="4700058" cy="35993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36FA74D8-DFA5-4F13-B273-46A9DDD20083}" type="datetimeFigureOut">
              <a:rPr lang="en-IN" smtClean="0"/>
              <a:t>12-01-2026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9AFD80B-6B9A-4ACD-8F08-522BAAD8CB2F}" type="slidenum">
              <a:rPr lang="en-IN" smtClean="0"/>
              <a:t>‹#›</a:t>
            </a:fld>
            <a:endParaRPr lang="en-IN"/>
          </a:p>
        </p:txBody>
      </p:sp>
    </p:spTree>
    <p:extLst>
      <p:ext uri="{BB962C8B-B14F-4D97-AF65-F5344CB8AC3E}">
        <p14:creationId xmlns:p14="http://schemas.microsoft.com/office/powerpoint/2010/main" val="14263266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wo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27357302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_Two Conten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130E2BF-AFCB-8C1B-0746-1A27D50BDF29}"/>
              </a:ext>
            </a:extLst>
          </p:cNvPr>
          <p:cNvSpPr/>
          <p:nvPr userDrawn="1"/>
        </p:nvSpPr>
        <p:spPr>
          <a:xfrm>
            <a:off x="-405118" y="3303652"/>
            <a:ext cx="13239747" cy="68344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 name="Rectangle 2">
            <a:extLst>
              <a:ext uri="{FF2B5EF4-FFF2-40B4-BE49-F238E27FC236}">
                <a16:creationId xmlns:a16="http://schemas.microsoft.com/office/drawing/2014/main" id="{8ACE4982-A642-1E89-6A6C-032E0BEF9F64}"/>
              </a:ext>
            </a:extLst>
          </p:cNvPr>
          <p:cNvSpPr/>
          <p:nvPr userDrawn="1"/>
        </p:nvSpPr>
        <p:spPr>
          <a:xfrm>
            <a:off x="-943184" y="619546"/>
            <a:ext cx="13239747" cy="68344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158541268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1" name="Picture 10" descr="HD-ShadowShort.png"/>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2" name="Rectangle 11"/>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753229"/>
            <a:ext cx="9613863" cy="1080937"/>
          </a:xfrm>
        </p:spPr>
        <p:txBody>
          <a:bodyPr/>
          <a:lstStyle/>
          <a:p>
            <a:r>
              <a:rPr lang="en-US"/>
              <a:t>Click to edit Master title style</a:t>
            </a:r>
          </a:p>
        </p:txBody>
      </p:sp>
      <p:sp>
        <p:nvSpPr>
          <p:cNvPr id="3" name="Text Placeholder 2"/>
          <p:cNvSpPr>
            <a:spLocks noGrp="1"/>
          </p:cNvSpPr>
          <p:nvPr>
            <p:ph type="body" idx="1"/>
          </p:nvPr>
        </p:nvSpPr>
        <p:spPr>
          <a:xfrm>
            <a:off x="906350" y="2336873"/>
            <a:ext cx="4472327" cy="69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0322" y="3030008"/>
            <a:ext cx="4698355" cy="29061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5820154" y="2336873"/>
            <a:ext cx="4474028" cy="692076"/>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594123" y="3030008"/>
            <a:ext cx="4700059" cy="29061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36FA74D8-DFA5-4F13-B273-46A9DDD20083}" type="datetimeFigureOut">
              <a:rPr lang="en-IN" smtClean="0"/>
              <a:t>12-01-2026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59AFD80B-6B9A-4ACD-8F08-522BAAD8CB2F}" type="slidenum">
              <a:rPr lang="en-IN" smtClean="0"/>
              <a:t>‹#›</a:t>
            </a:fld>
            <a:endParaRPr lang="en-IN"/>
          </a:p>
        </p:txBody>
      </p:sp>
    </p:spTree>
    <p:extLst>
      <p:ext uri="{BB962C8B-B14F-4D97-AF65-F5344CB8AC3E}">
        <p14:creationId xmlns:p14="http://schemas.microsoft.com/office/powerpoint/2010/main" val="60695281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7" name="Picture 6" descr="HD-ShadowShort.png"/>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8" name="Rectangle 7"/>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36FA74D8-DFA5-4F13-B273-46A9DDD20083}" type="datetimeFigureOut">
              <a:rPr lang="en-IN" smtClean="0"/>
              <a:t>12-01-2026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59AFD80B-6B9A-4ACD-8F08-522BAAD8CB2F}" type="slidenum">
              <a:rPr lang="en-IN" smtClean="0"/>
              <a:t>‹#›</a:t>
            </a:fld>
            <a:endParaRPr lang="en-IN"/>
          </a:p>
        </p:txBody>
      </p:sp>
    </p:spTree>
    <p:extLst>
      <p:ext uri="{BB962C8B-B14F-4D97-AF65-F5344CB8AC3E}">
        <p14:creationId xmlns:p14="http://schemas.microsoft.com/office/powerpoint/2010/main" val="267725393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HD-ShadowShort.png"/>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6" name="Rectangle 5"/>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Date Placeholder 1"/>
          <p:cNvSpPr>
            <a:spLocks noGrp="1"/>
          </p:cNvSpPr>
          <p:nvPr>
            <p:ph type="dt" sz="half" idx="10"/>
          </p:nvPr>
        </p:nvSpPr>
        <p:spPr/>
        <p:txBody>
          <a:bodyPr/>
          <a:lstStyle/>
          <a:p>
            <a:fld id="{36FA74D8-DFA5-4F13-B273-46A9DDD20083}" type="datetimeFigureOut">
              <a:rPr lang="en-IN" smtClean="0"/>
              <a:t>12-01-2026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59AFD80B-6B9A-4ACD-8F08-522BAAD8CB2F}" type="slidenum">
              <a:rPr lang="en-IN" smtClean="0"/>
              <a:t>‹#›</a:t>
            </a:fld>
            <a:endParaRPr lang="en-IN"/>
          </a:p>
        </p:txBody>
      </p:sp>
      <p:sp>
        <p:nvSpPr>
          <p:cNvPr id="8" name="Rectangle 7">
            <a:extLst>
              <a:ext uri="{FF2B5EF4-FFF2-40B4-BE49-F238E27FC236}">
                <a16:creationId xmlns:a16="http://schemas.microsoft.com/office/drawing/2014/main" id="{428B2D3F-5560-B284-F267-C7EDBEB18BE6}"/>
              </a:ext>
            </a:extLst>
          </p:cNvPr>
          <p:cNvSpPr/>
          <p:nvPr userDrawn="1"/>
        </p:nvSpPr>
        <p:spPr>
          <a:xfrm>
            <a:off x="587957" y="615520"/>
            <a:ext cx="5055461" cy="136227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pic>
        <p:nvPicPr>
          <p:cNvPr id="10" name="Picture 9" descr="HD-ShadowShort.png">
            <a:extLst>
              <a:ext uri="{FF2B5EF4-FFF2-40B4-BE49-F238E27FC236}">
                <a16:creationId xmlns:a16="http://schemas.microsoft.com/office/drawing/2014/main" id="{BDF90728-1C5C-E73C-3692-B743DCB6203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08395" y="1844016"/>
            <a:ext cx="5335024" cy="683447"/>
          </a:xfrm>
          <a:prstGeom prst="rect">
            <a:avLst/>
          </a:prstGeom>
        </p:spPr>
      </p:pic>
    </p:spTree>
    <p:extLst>
      <p:ext uri="{BB962C8B-B14F-4D97-AF65-F5344CB8AC3E}">
        <p14:creationId xmlns:p14="http://schemas.microsoft.com/office/powerpoint/2010/main" val="6318826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1_Blank">
    <p:spTree>
      <p:nvGrpSpPr>
        <p:cNvPr id="1" name=""/>
        <p:cNvGrpSpPr/>
        <p:nvPr/>
      </p:nvGrpSpPr>
      <p:grpSpPr>
        <a:xfrm>
          <a:off x="0" y="0"/>
          <a:ext cx="0" cy="0"/>
          <a:chOff x="0" y="0"/>
          <a:chExt cx="0" cy="0"/>
        </a:xfrm>
      </p:grpSpPr>
      <p:pic>
        <p:nvPicPr>
          <p:cNvPr id="5" name="Picture 4" descr="HD-ShadowShort.png"/>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6" name="Rectangle 5"/>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4" name="Slide Number Placeholder 3"/>
          <p:cNvSpPr>
            <a:spLocks noGrp="1"/>
          </p:cNvSpPr>
          <p:nvPr>
            <p:ph type="sldNum" sz="quarter" idx="12"/>
          </p:nvPr>
        </p:nvSpPr>
        <p:spPr/>
        <p:txBody>
          <a:bodyPr/>
          <a:lstStyle/>
          <a:p>
            <a:fld id="{59AFD80B-6B9A-4ACD-8F08-522BAAD8CB2F}" type="slidenum">
              <a:rPr lang="en-IN" smtClean="0"/>
              <a:t>‹#›</a:t>
            </a:fld>
            <a:endParaRPr lang="en-IN"/>
          </a:p>
        </p:txBody>
      </p:sp>
      <p:sp>
        <p:nvSpPr>
          <p:cNvPr id="8" name="Rectangle 7">
            <a:extLst>
              <a:ext uri="{FF2B5EF4-FFF2-40B4-BE49-F238E27FC236}">
                <a16:creationId xmlns:a16="http://schemas.microsoft.com/office/drawing/2014/main" id="{428B2D3F-5560-B284-F267-C7EDBEB18BE6}"/>
              </a:ext>
            </a:extLst>
          </p:cNvPr>
          <p:cNvSpPr/>
          <p:nvPr userDrawn="1"/>
        </p:nvSpPr>
        <p:spPr>
          <a:xfrm>
            <a:off x="-349135" y="5113791"/>
            <a:ext cx="13239747" cy="68344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pic>
        <p:nvPicPr>
          <p:cNvPr id="10" name="Picture 9" descr="HD-ShadowShort.png">
            <a:extLst>
              <a:ext uri="{FF2B5EF4-FFF2-40B4-BE49-F238E27FC236}">
                <a16:creationId xmlns:a16="http://schemas.microsoft.com/office/drawing/2014/main" id="{BDF90728-1C5C-E73C-3692-B743DCB6203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939338" y="5763903"/>
            <a:ext cx="13375178" cy="683447"/>
          </a:xfrm>
          <a:prstGeom prst="rect">
            <a:avLst/>
          </a:prstGeom>
        </p:spPr>
      </p:pic>
    </p:spTree>
    <p:extLst>
      <p:ext uri="{BB962C8B-B14F-4D97-AF65-F5344CB8AC3E}">
        <p14:creationId xmlns:p14="http://schemas.microsoft.com/office/powerpoint/2010/main" val="426930547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1" y="753227"/>
            <a:ext cx="9613859" cy="1080940"/>
          </a:xfrm>
        </p:spPr>
        <p:txBody>
          <a:bodyPr anchor="ctr">
            <a:normAutofit/>
          </a:bodyPr>
          <a:lstStyle>
            <a:lvl1pPr>
              <a:defRPr sz="3600"/>
            </a:lvl1pPr>
          </a:lstStyle>
          <a:p>
            <a:r>
              <a:rPr lang="en-US"/>
              <a:t>Click to edit Master title style</a:t>
            </a:r>
          </a:p>
        </p:txBody>
      </p:sp>
      <p:sp>
        <p:nvSpPr>
          <p:cNvPr id="3" name="Content Placeholder 2"/>
          <p:cNvSpPr>
            <a:spLocks noGrp="1"/>
          </p:cNvSpPr>
          <p:nvPr>
            <p:ph idx="1"/>
          </p:nvPr>
        </p:nvSpPr>
        <p:spPr>
          <a:xfrm>
            <a:off x="4685846" y="2336873"/>
            <a:ext cx="5608336" cy="35993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80322" y="2336872"/>
            <a:ext cx="3790078" cy="3599317"/>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6FA74D8-DFA5-4F13-B273-46A9DDD20083}" type="datetimeFigureOut">
              <a:rPr lang="en-IN" smtClean="0"/>
              <a:t>12-01-2026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9AFD80B-6B9A-4ACD-8F08-522BAAD8CB2F}" type="slidenum">
              <a:rPr lang="en-IN" smtClean="0"/>
              <a:t>‹#›</a:t>
            </a:fld>
            <a:endParaRPr lang="en-IN"/>
          </a:p>
        </p:txBody>
      </p:sp>
    </p:spTree>
    <p:extLst>
      <p:ext uri="{BB962C8B-B14F-4D97-AF65-F5344CB8AC3E}">
        <p14:creationId xmlns:p14="http://schemas.microsoft.com/office/powerpoint/2010/main" val="234296334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3" y="753228"/>
            <a:ext cx="9613857" cy="1080938"/>
          </a:xfrm>
        </p:spPr>
        <p:txBody>
          <a:bodyPr anchor="ctr">
            <a:normAutofit/>
          </a:bodyPr>
          <a:lstStyle>
            <a:lvl1pPr>
              <a:defRPr sz="3600"/>
            </a:lvl1pPr>
          </a:lstStyle>
          <a:p>
            <a:r>
              <a:rPr lang="en-US"/>
              <a:t>Click to edit Master title style</a:t>
            </a:r>
          </a:p>
        </p:txBody>
      </p:sp>
      <p:sp>
        <p:nvSpPr>
          <p:cNvPr id="3" name="Picture Placeholder 2"/>
          <p:cNvSpPr>
            <a:spLocks noGrp="1" noChangeAspect="1"/>
          </p:cNvSpPr>
          <p:nvPr>
            <p:ph type="pic" idx="1"/>
          </p:nvPr>
        </p:nvSpPr>
        <p:spPr>
          <a:xfrm>
            <a:off x="4868333" y="2336874"/>
            <a:ext cx="5425849" cy="3599312"/>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680323" y="2336873"/>
            <a:ext cx="3876256" cy="3599315"/>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6FA74D8-DFA5-4F13-B273-46A9DDD20083}" type="datetimeFigureOut">
              <a:rPr lang="en-IN" smtClean="0"/>
              <a:t>12-01-2026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59AFD80B-6B9A-4ACD-8F08-522BAAD8CB2F}" type="slidenum">
              <a:rPr lang="en-IN" smtClean="0"/>
              <a:t>‹#›</a:t>
            </a:fld>
            <a:endParaRPr lang="en-IN"/>
          </a:p>
        </p:txBody>
      </p:sp>
    </p:spTree>
    <p:extLst>
      <p:ext uri="{BB962C8B-B14F-4D97-AF65-F5344CB8AC3E}">
        <p14:creationId xmlns:p14="http://schemas.microsoft.com/office/powerpoint/2010/main" val="35093322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4711616"/>
            <a:ext cx="9613859" cy="453051"/>
          </a:xfrm>
        </p:spPr>
        <p:txBody>
          <a:bodyPr anchor="b">
            <a:normAutofit/>
          </a:bodyPr>
          <a:lstStyle>
            <a:lvl1pPr>
              <a:defRPr sz="2400"/>
            </a:lvl1pPr>
          </a:lstStyle>
          <a:p>
            <a:r>
              <a:rPr lang="en-US"/>
              <a:t>Click to edit Master title style</a:t>
            </a:r>
          </a:p>
        </p:txBody>
      </p:sp>
      <p:sp>
        <p:nvSpPr>
          <p:cNvPr id="3" name="Picture Placeholder 2"/>
          <p:cNvSpPr>
            <a:spLocks noGrp="1" noChangeAspect="1"/>
          </p:cNvSpPr>
          <p:nvPr>
            <p:ph type="pic" idx="1"/>
          </p:nvPr>
        </p:nvSpPr>
        <p:spPr>
          <a:xfrm>
            <a:off x="680322" y="609597"/>
            <a:ext cx="9613859" cy="3589575"/>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680319" y="5169583"/>
            <a:ext cx="9613862" cy="62297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6FA74D8-DFA5-4F13-B273-46A9DDD20083}" type="datetimeFigureOut">
              <a:rPr lang="en-IN" smtClean="0"/>
              <a:t>12-01-2026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a:xfrm>
            <a:off x="10729455" y="4711309"/>
            <a:ext cx="1154151" cy="1090789"/>
          </a:xfrm>
        </p:spPr>
        <p:txBody>
          <a:bodyPr/>
          <a:lstStyle/>
          <a:p>
            <a:fld id="{59AFD80B-6B9A-4ACD-8F08-522BAAD8CB2F}" type="slidenum">
              <a:rPr lang="en-IN" smtClean="0"/>
              <a:t>‹#›</a:t>
            </a:fld>
            <a:endParaRPr lang="en-IN"/>
          </a:p>
        </p:txBody>
      </p:sp>
    </p:spTree>
    <p:extLst>
      <p:ext uri="{BB962C8B-B14F-4D97-AF65-F5344CB8AC3E}">
        <p14:creationId xmlns:p14="http://schemas.microsoft.com/office/powerpoint/2010/main" val="375105003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Panoramic 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sp>
        <p:nvSpPr>
          <p:cNvPr id="10" name="Rectangle 9"/>
          <p:cNvSpPr/>
          <p:nvPr userDrawn="1"/>
        </p:nvSpPr>
        <p:spPr bwMode="ltGray">
          <a:xfrm>
            <a:off x="0" y="5210721"/>
            <a:ext cx="12192000"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295796949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609597"/>
            <a:ext cx="9613858" cy="3592750"/>
          </a:xfrm>
        </p:spPr>
        <p:txBody>
          <a:bodyPr anchor="ctr"/>
          <a:lstStyle>
            <a:lvl1pPr>
              <a:defRPr sz="3200"/>
            </a:lvl1pPr>
          </a:lstStyle>
          <a:p>
            <a:r>
              <a:rPr lang="en-US"/>
              <a:t>Click to edit Master title style</a:t>
            </a:r>
          </a:p>
        </p:txBody>
      </p:sp>
      <p:sp>
        <p:nvSpPr>
          <p:cNvPr id="4" name="Text Placeholder 3"/>
          <p:cNvSpPr>
            <a:spLocks noGrp="1"/>
          </p:cNvSpPr>
          <p:nvPr>
            <p:ph type="body" sz="half" idx="2"/>
          </p:nvPr>
        </p:nvSpPr>
        <p:spPr>
          <a:xfrm>
            <a:off x="680322" y="4711615"/>
            <a:ext cx="9613859" cy="1090789"/>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6FA74D8-DFA5-4F13-B273-46A9DDD20083}" type="datetimeFigureOut">
              <a:rPr lang="en-IN" smtClean="0"/>
              <a:t>12-01-2026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a:xfrm>
            <a:off x="10729455" y="4711615"/>
            <a:ext cx="1154151" cy="1090789"/>
          </a:xfrm>
        </p:spPr>
        <p:txBody>
          <a:bodyPr/>
          <a:lstStyle/>
          <a:p>
            <a:fld id="{59AFD80B-6B9A-4ACD-8F08-522BAAD8CB2F}" type="slidenum">
              <a:rPr lang="en-IN" smtClean="0"/>
              <a:t>‹#›</a:t>
            </a:fld>
            <a:endParaRPr lang="en-IN"/>
          </a:p>
        </p:txBody>
      </p:sp>
    </p:spTree>
    <p:extLst>
      <p:ext uri="{BB962C8B-B14F-4D97-AF65-F5344CB8AC3E}">
        <p14:creationId xmlns:p14="http://schemas.microsoft.com/office/powerpoint/2010/main" val="333563649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3" name="Picture 12" descr="HD-ShadowShort.png"/>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4" name="Rectangle 13"/>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127856" y="609598"/>
            <a:ext cx="8718877" cy="3036061"/>
          </a:xfrm>
        </p:spPr>
        <p:txBody>
          <a:bodyPr anchor="ctr"/>
          <a:lstStyle>
            <a:lvl1pPr>
              <a:defRPr sz="3200"/>
            </a:lvl1pPr>
          </a:lstStyle>
          <a:p>
            <a:r>
              <a:rPr lang="en-US"/>
              <a:t>Click to edit Master title style</a:t>
            </a:r>
          </a:p>
        </p:txBody>
      </p:sp>
      <p:sp>
        <p:nvSpPr>
          <p:cNvPr id="12" name="Text Placeholder 3"/>
          <p:cNvSpPr>
            <a:spLocks noGrp="1"/>
          </p:cNvSpPr>
          <p:nvPr>
            <p:ph type="body" sz="half" idx="13"/>
          </p:nvPr>
        </p:nvSpPr>
        <p:spPr>
          <a:xfrm>
            <a:off x="1402288" y="3653379"/>
            <a:ext cx="815657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680322" y="4711615"/>
            <a:ext cx="9613859" cy="1090789"/>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6FA74D8-DFA5-4F13-B273-46A9DDD20083}" type="datetimeFigureOut">
              <a:rPr lang="en-IN" smtClean="0"/>
              <a:t>12-01-2026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a:xfrm>
            <a:off x="10729455" y="4709925"/>
            <a:ext cx="1154151" cy="1090789"/>
          </a:xfrm>
        </p:spPr>
        <p:txBody>
          <a:bodyPr/>
          <a:lstStyle/>
          <a:p>
            <a:fld id="{59AFD80B-6B9A-4ACD-8F08-522BAAD8CB2F}" type="slidenum">
              <a:rPr lang="en-IN" smtClean="0"/>
              <a:t>‹#›</a:t>
            </a:fld>
            <a:endParaRPr lang="en-IN"/>
          </a:p>
        </p:txBody>
      </p:sp>
      <p:sp>
        <p:nvSpPr>
          <p:cNvPr id="16" name="TextBox 15"/>
          <p:cNvSpPr txBox="1"/>
          <p:nvPr/>
        </p:nvSpPr>
        <p:spPr>
          <a:xfrm>
            <a:off x="583572" y="74811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7200">
                <a:solidFill>
                  <a:schemeClr val="tx1"/>
                </a:solidFill>
                <a:effectLst/>
              </a:rPr>
              <a:t>“</a:t>
            </a:r>
          </a:p>
        </p:txBody>
      </p:sp>
      <p:sp>
        <p:nvSpPr>
          <p:cNvPr id="17" name="TextBox 16"/>
          <p:cNvSpPr txBox="1"/>
          <p:nvPr/>
        </p:nvSpPr>
        <p:spPr>
          <a:xfrm>
            <a:off x="9662809" y="30335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200">
                <a:solidFill>
                  <a:schemeClr val="tx1"/>
                </a:solidFill>
                <a:effectLst/>
              </a:rPr>
              <a:t>”</a:t>
            </a:r>
          </a:p>
        </p:txBody>
      </p:sp>
    </p:spTree>
    <p:extLst>
      <p:ext uri="{BB962C8B-B14F-4D97-AF65-F5344CB8AC3E}">
        <p14:creationId xmlns:p14="http://schemas.microsoft.com/office/powerpoint/2010/main" val="233889121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9" name="Picture 8"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0" name="Picture 9" descr="HD-ShadowShort.png"/>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1" name="Rectangle 10"/>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Rectangle 11"/>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4711615"/>
            <a:ext cx="9613862" cy="588535"/>
          </a:xfrm>
        </p:spPr>
        <p:txBody>
          <a:bodyPr anchor="b"/>
          <a:lstStyle>
            <a:lvl1pPr>
              <a:defRPr sz="3200"/>
            </a:lvl1pPr>
          </a:lstStyle>
          <a:p>
            <a:r>
              <a:rPr lang="en-US"/>
              <a:t>Click to edit Master title style</a:t>
            </a:r>
          </a:p>
        </p:txBody>
      </p:sp>
      <p:sp>
        <p:nvSpPr>
          <p:cNvPr id="4" name="Text Placeholder 3"/>
          <p:cNvSpPr>
            <a:spLocks noGrp="1"/>
          </p:cNvSpPr>
          <p:nvPr>
            <p:ph type="body" sz="half" idx="2"/>
          </p:nvPr>
        </p:nvSpPr>
        <p:spPr>
          <a:xfrm>
            <a:off x="680320" y="5300149"/>
            <a:ext cx="9613862" cy="502255"/>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6FA74D8-DFA5-4F13-B273-46A9DDD20083}" type="datetimeFigureOut">
              <a:rPr lang="en-IN" smtClean="0"/>
              <a:t>12-01-2026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a:xfrm>
            <a:off x="10729455" y="4709925"/>
            <a:ext cx="1154151" cy="1090789"/>
          </a:xfrm>
        </p:spPr>
        <p:txBody>
          <a:bodyPr/>
          <a:lstStyle/>
          <a:p>
            <a:fld id="{59AFD80B-6B9A-4ACD-8F08-522BAAD8CB2F}" type="slidenum">
              <a:rPr lang="en-IN" smtClean="0"/>
              <a:t>‹#›</a:t>
            </a:fld>
            <a:endParaRPr lang="en-IN"/>
          </a:p>
        </p:txBody>
      </p:sp>
    </p:spTree>
    <p:extLst>
      <p:ext uri="{BB962C8B-B14F-4D97-AF65-F5344CB8AC3E}">
        <p14:creationId xmlns:p14="http://schemas.microsoft.com/office/powerpoint/2010/main" val="67498651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4" name="Picture 13" descr="HD-ShadowShort.png"/>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6" name="Rectangle 15"/>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Rectangle 16"/>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Title 1"/>
          <p:cNvSpPr>
            <a:spLocks noGrp="1"/>
          </p:cNvSpPr>
          <p:nvPr>
            <p:ph type="title"/>
          </p:nvPr>
        </p:nvSpPr>
        <p:spPr>
          <a:xfrm>
            <a:off x="669222" y="753228"/>
            <a:ext cx="9624960" cy="1080938"/>
          </a:xfrm>
        </p:spPr>
        <p:txBody>
          <a:bodyPr/>
          <a:lstStyle/>
          <a:p>
            <a:r>
              <a:rPr lang="en-US"/>
              <a:t>Click to edit Master title style</a:t>
            </a:r>
          </a:p>
        </p:txBody>
      </p:sp>
      <p:sp>
        <p:nvSpPr>
          <p:cNvPr id="7" name="Text Placeholder 2"/>
          <p:cNvSpPr>
            <a:spLocks noGrp="1"/>
          </p:cNvSpPr>
          <p:nvPr>
            <p:ph type="body" idx="1"/>
          </p:nvPr>
        </p:nvSpPr>
        <p:spPr>
          <a:xfrm>
            <a:off x="660946" y="2336873"/>
            <a:ext cx="3070034"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0322" y="3022673"/>
            <a:ext cx="3049702"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3956025" y="233687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3945470" y="3022673"/>
            <a:ext cx="3063240"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224156" y="2336873"/>
            <a:ext cx="307002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224156" y="3022673"/>
            <a:ext cx="3070025"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36FA74D8-DFA5-4F13-B273-46A9DDD20083}" type="datetimeFigureOut">
              <a:rPr lang="en-IN" smtClean="0"/>
              <a:t>12-01-2026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59AFD80B-6B9A-4ACD-8F08-522BAAD8CB2F}" type="slidenum">
              <a:rPr lang="en-IN" smtClean="0"/>
              <a:t>‹#›</a:t>
            </a:fld>
            <a:endParaRPr lang="en-IN"/>
          </a:p>
        </p:txBody>
      </p:sp>
    </p:spTree>
    <p:extLst>
      <p:ext uri="{BB962C8B-B14F-4D97-AF65-F5344CB8AC3E}">
        <p14:creationId xmlns:p14="http://schemas.microsoft.com/office/powerpoint/2010/main" val="314466113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_3 Column">
    <p:spTree>
      <p:nvGrpSpPr>
        <p:cNvPr id="1" name=""/>
        <p:cNvGrpSpPr/>
        <p:nvPr/>
      </p:nvGrpSpPr>
      <p:grpSpPr>
        <a:xfrm>
          <a:off x="0" y="0"/>
          <a:ext cx="0" cy="0"/>
          <a:chOff x="0" y="0"/>
          <a:chExt cx="0" cy="0"/>
        </a:xfrm>
      </p:grpSpPr>
      <p:pic>
        <p:nvPicPr>
          <p:cNvPr id="13" name="Picture 12"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1479034"/>
            <a:ext cx="10437812" cy="321164"/>
          </a:xfrm>
          <a:prstGeom prst="rect">
            <a:avLst/>
          </a:prstGeom>
        </p:spPr>
      </p:pic>
      <p:pic>
        <p:nvPicPr>
          <p:cNvPr id="14" name="Picture 13"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479034"/>
            <a:ext cx="1602997" cy="636470"/>
          </a:xfrm>
          <a:prstGeom prst="rect">
            <a:avLst/>
          </a:prstGeom>
        </p:spPr>
      </p:pic>
      <p:sp>
        <p:nvSpPr>
          <p:cNvPr id="16" name="Rectangle 15"/>
          <p:cNvSpPr/>
          <p:nvPr/>
        </p:nvSpPr>
        <p:spPr bwMode="ltGray">
          <a:xfrm>
            <a:off x="0" y="110836"/>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Rectangle 16"/>
          <p:cNvSpPr/>
          <p:nvPr/>
        </p:nvSpPr>
        <p:spPr>
          <a:xfrm>
            <a:off x="10589003" y="110836"/>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Text Placeholder 2"/>
          <p:cNvSpPr>
            <a:spLocks noGrp="1"/>
          </p:cNvSpPr>
          <p:nvPr>
            <p:ph type="body" idx="1"/>
          </p:nvPr>
        </p:nvSpPr>
        <p:spPr>
          <a:xfrm>
            <a:off x="556764" y="1587826"/>
            <a:ext cx="11078472" cy="527677"/>
          </a:xfrm>
        </p:spPr>
        <p:txBody>
          <a:bodyPr anchor="b">
            <a:noAutofit/>
          </a:bodyPr>
          <a:lstStyle>
            <a:lvl1pPr marL="0" indent="0" algn="l">
              <a:buNone/>
              <a:defRPr sz="2400" b="0">
                <a:solidFill>
                  <a:schemeClr val="tx1"/>
                </a:solidFill>
                <a:latin typeface="Nunito Sans" pitchFamily="2"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0322" y="3022673"/>
            <a:ext cx="3049702"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 name="Text Placeholder 3"/>
          <p:cNvSpPr>
            <a:spLocks noGrp="1"/>
          </p:cNvSpPr>
          <p:nvPr>
            <p:ph type="body" sz="half" idx="16"/>
          </p:nvPr>
        </p:nvSpPr>
        <p:spPr>
          <a:xfrm>
            <a:off x="3945470" y="3022673"/>
            <a:ext cx="3063240"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2" name="Text Placeholder 3"/>
          <p:cNvSpPr>
            <a:spLocks noGrp="1"/>
          </p:cNvSpPr>
          <p:nvPr>
            <p:ph type="body" sz="half" idx="17"/>
          </p:nvPr>
        </p:nvSpPr>
        <p:spPr>
          <a:xfrm>
            <a:off x="7224156" y="3022673"/>
            <a:ext cx="3070025"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Tree>
    <p:extLst>
      <p:ext uri="{BB962C8B-B14F-4D97-AF65-F5344CB8AC3E}">
        <p14:creationId xmlns:p14="http://schemas.microsoft.com/office/powerpoint/2010/main" val="17364557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0" name="Title 1"/>
          <p:cNvSpPr>
            <a:spLocks noGrp="1"/>
          </p:cNvSpPr>
          <p:nvPr>
            <p:ph type="title"/>
          </p:nvPr>
        </p:nvSpPr>
        <p:spPr>
          <a:xfrm>
            <a:off x="680322" y="753228"/>
            <a:ext cx="9613860" cy="1080938"/>
          </a:xfrm>
        </p:spPr>
        <p:txBody>
          <a:bodyPr/>
          <a:lstStyle/>
          <a:p>
            <a:r>
              <a:rPr lang="en-US"/>
              <a:t>Click to edit Master title style</a:t>
            </a:r>
          </a:p>
        </p:txBody>
      </p:sp>
      <p:sp>
        <p:nvSpPr>
          <p:cNvPr id="19" name="Text Placeholder 2"/>
          <p:cNvSpPr>
            <a:spLocks noGrp="1"/>
          </p:cNvSpPr>
          <p:nvPr>
            <p:ph type="body" idx="1"/>
          </p:nvPr>
        </p:nvSpPr>
        <p:spPr>
          <a:xfrm>
            <a:off x="680318" y="4297503"/>
            <a:ext cx="30497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680318" y="2336873"/>
            <a:ext cx="30497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1" name="Text Placeholder 3"/>
          <p:cNvSpPr>
            <a:spLocks noGrp="1"/>
          </p:cNvSpPr>
          <p:nvPr>
            <p:ph type="body" sz="half" idx="18"/>
          </p:nvPr>
        </p:nvSpPr>
        <p:spPr>
          <a:xfrm>
            <a:off x="680318" y="4873765"/>
            <a:ext cx="3049705"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3945471" y="429750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3945470" y="2336873"/>
            <a:ext cx="3063240"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4" name="Text Placeholder 3"/>
          <p:cNvSpPr>
            <a:spLocks noGrp="1"/>
          </p:cNvSpPr>
          <p:nvPr>
            <p:ph type="body" sz="half" idx="19"/>
          </p:nvPr>
        </p:nvSpPr>
        <p:spPr>
          <a:xfrm>
            <a:off x="3944117" y="4873764"/>
            <a:ext cx="3067297"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230678" y="4297503"/>
            <a:ext cx="30635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230677" y="2336873"/>
            <a:ext cx="30635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p>
        </p:txBody>
      </p:sp>
      <p:sp>
        <p:nvSpPr>
          <p:cNvPr id="27" name="Text Placeholder 3"/>
          <p:cNvSpPr>
            <a:spLocks noGrp="1"/>
          </p:cNvSpPr>
          <p:nvPr>
            <p:ph type="body" sz="half" idx="20"/>
          </p:nvPr>
        </p:nvSpPr>
        <p:spPr>
          <a:xfrm>
            <a:off x="7230553" y="4873762"/>
            <a:ext cx="3067563"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36FA74D8-DFA5-4F13-B273-46A9DDD20083}" type="datetimeFigureOut">
              <a:rPr lang="en-IN" smtClean="0"/>
              <a:t>12-01-2026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59AFD80B-6B9A-4ACD-8F08-522BAAD8CB2F}" type="slidenum">
              <a:rPr lang="en-IN" smtClean="0"/>
              <a:t>‹#›</a:t>
            </a:fld>
            <a:endParaRPr lang="en-IN"/>
          </a:p>
        </p:txBody>
      </p:sp>
    </p:spTree>
    <p:extLst>
      <p:ext uri="{BB962C8B-B14F-4D97-AF65-F5344CB8AC3E}">
        <p14:creationId xmlns:p14="http://schemas.microsoft.com/office/powerpoint/2010/main" val="357091827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8" name="Picture 7" descr="HD-ShadowShort.png"/>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9" name="Rectangle 8"/>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lvl1pPr algn="r">
              <a:defRPr/>
            </a:lvl1p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6FA74D8-DFA5-4F13-B273-46A9DDD20083}" type="datetimeFigureOut">
              <a:rPr lang="en-IN" smtClean="0"/>
              <a:t>12-01-2026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59AFD80B-6B9A-4ACD-8F08-522BAAD8CB2F}" type="slidenum">
              <a:rPr lang="en-IN" smtClean="0"/>
              <a:t>‹#›</a:t>
            </a:fld>
            <a:endParaRPr lang="en-IN"/>
          </a:p>
        </p:txBody>
      </p:sp>
    </p:spTree>
    <p:extLst>
      <p:ext uri="{BB962C8B-B14F-4D97-AF65-F5344CB8AC3E}">
        <p14:creationId xmlns:p14="http://schemas.microsoft.com/office/powerpoint/2010/main" val="342200731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bwMode="ltGray">
          <a:xfrm rot="5400000">
            <a:off x="8116207" y="1869395"/>
            <a:ext cx="5106988"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rot="5400000">
            <a:off x="9868202" y="5372403"/>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10129231" y="609597"/>
            <a:ext cx="1073802" cy="435376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80322" y="609597"/>
            <a:ext cx="8870004" cy="53265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6807126" y="5936187"/>
            <a:ext cx="2743200" cy="365125"/>
          </a:xfrm>
        </p:spPr>
        <p:txBody>
          <a:bodyPr/>
          <a:lstStyle/>
          <a:p>
            <a:fld id="{36FA74D8-DFA5-4F13-B273-46A9DDD20083}" type="datetimeFigureOut">
              <a:rPr lang="en-IN" smtClean="0"/>
              <a:t>12-01-2026</a:t>
            </a:fld>
            <a:endParaRPr lang="en-IN"/>
          </a:p>
        </p:txBody>
      </p:sp>
      <p:sp>
        <p:nvSpPr>
          <p:cNvPr id="5" name="Footer Placeholder 4"/>
          <p:cNvSpPr>
            <a:spLocks noGrp="1"/>
          </p:cNvSpPr>
          <p:nvPr>
            <p:ph type="ftr" sz="quarter" idx="11"/>
          </p:nvPr>
        </p:nvSpPr>
        <p:spPr>
          <a:xfrm>
            <a:off x="680321" y="5936188"/>
            <a:ext cx="6126805" cy="365125"/>
          </a:xfrm>
        </p:spPr>
        <p:txBody>
          <a:bodyPr/>
          <a:lstStyle/>
          <a:p>
            <a:endParaRPr lang="en-IN"/>
          </a:p>
        </p:txBody>
      </p:sp>
      <p:sp>
        <p:nvSpPr>
          <p:cNvPr id="6" name="Slide Number Placeholder 5"/>
          <p:cNvSpPr>
            <a:spLocks noGrp="1"/>
          </p:cNvSpPr>
          <p:nvPr>
            <p:ph type="sldNum" sz="quarter" idx="12"/>
          </p:nvPr>
        </p:nvSpPr>
        <p:spPr>
          <a:xfrm>
            <a:off x="10097550" y="5398633"/>
            <a:ext cx="1154151" cy="1090789"/>
          </a:xfrm>
        </p:spPr>
        <p:txBody>
          <a:bodyPr anchor="t"/>
          <a:lstStyle>
            <a:lvl1pPr algn="ctr">
              <a:defRPr/>
            </a:lvl1pPr>
          </a:lstStyle>
          <a:p>
            <a:fld id="{59AFD80B-6B9A-4ACD-8F08-522BAAD8CB2F}" type="slidenum">
              <a:rPr lang="en-IN" smtClean="0"/>
              <a:t>‹#›</a:t>
            </a:fld>
            <a:endParaRPr lang="en-IN"/>
          </a:p>
        </p:txBody>
      </p:sp>
    </p:spTree>
    <p:extLst>
      <p:ext uri="{BB962C8B-B14F-4D97-AF65-F5344CB8AC3E}">
        <p14:creationId xmlns:p14="http://schemas.microsoft.com/office/powerpoint/2010/main" val="4472022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BF6E2"/>
        </a:solidFill>
        <a:effectLst/>
      </p:bgPr>
    </p:bg>
    <p:spTree>
      <p:nvGrpSpPr>
        <p:cNvPr id="1" name=""/>
        <p:cNvGrpSpPr/>
        <p:nvPr/>
      </p:nvGrpSpPr>
      <p:grpSpPr>
        <a:xfrm>
          <a:off x="0" y="0"/>
          <a:ext cx="0" cy="0"/>
          <a:chOff x="0" y="0"/>
          <a:chExt cx="0" cy="0"/>
        </a:xfrm>
      </p:grpSpPr>
      <p:pic>
        <p:nvPicPr>
          <p:cNvPr id="7" name="Picture 6" descr="hashOverlay-FullResolve.png"/>
          <p:cNvPicPr>
            <a:picLocks noChangeAspect="1"/>
          </p:cNvPicPr>
          <p:nvPr/>
        </p:nvPicPr>
        <p:blipFill>
          <a:blip r:embed="rId27">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Placeholder 1"/>
          <p:cNvSpPr>
            <a:spLocks noGrp="1"/>
          </p:cNvSpPr>
          <p:nvPr>
            <p:ph type="title"/>
          </p:nvPr>
        </p:nvSpPr>
        <p:spPr>
          <a:xfrm>
            <a:off x="680321" y="753228"/>
            <a:ext cx="9613861" cy="1080938"/>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80321" y="2336873"/>
            <a:ext cx="9613861" cy="359931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7550981" y="5936187"/>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36FA74D8-DFA5-4F13-B273-46A9DDD20083}" type="datetimeFigureOut">
              <a:rPr lang="en-IN" smtClean="0"/>
              <a:t>12-01-2026</a:t>
            </a:fld>
            <a:endParaRPr lang="en-IN"/>
          </a:p>
        </p:txBody>
      </p:sp>
      <p:sp>
        <p:nvSpPr>
          <p:cNvPr id="5" name="Footer Placeholder 4"/>
          <p:cNvSpPr>
            <a:spLocks noGrp="1"/>
          </p:cNvSpPr>
          <p:nvPr>
            <p:ph type="ftr" sz="quarter" idx="3"/>
          </p:nvPr>
        </p:nvSpPr>
        <p:spPr>
          <a:xfrm>
            <a:off x="680321" y="5936188"/>
            <a:ext cx="6870660"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10729455" y="753227"/>
            <a:ext cx="1154151" cy="1090789"/>
          </a:xfrm>
          <a:prstGeom prst="rect">
            <a:avLst/>
          </a:prstGeom>
        </p:spPr>
        <p:txBody>
          <a:bodyPr vert="horz" lIns="91440" tIns="45720" rIns="91440" bIns="45720" rtlCol="0" anchor="ctr"/>
          <a:lstStyle>
            <a:lvl1pPr algn="l">
              <a:defRPr sz="3600">
                <a:solidFill>
                  <a:schemeClr val="tx1">
                    <a:tint val="75000"/>
                  </a:schemeClr>
                </a:solidFill>
              </a:defRPr>
            </a:lvl1pPr>
          </a:lstStyle>
          <a:p>
            <a:fld id="{59AFD80B-6B9A-4ACD-8F08-522BAAD8CB2F}" type="slidenum">
              <a:rPr lang="en-IN" smtClean="0"/>
              <a:t>‹#›</a:t>
            </a:fld>
            <a:endParaRPr lang="en-IN"/>
          </a:p>
        </p:txBody>
      </p:sp>
    </p:spTree>
    <p:extLst>
      <p:ext uri="{BB962C8B-B14F-4D97-AF65-F5344CB8AC3E}">
        <p14:creationId xmlns:p14="http://schemas.microsoft.com/office/powerpoint/2010/main" val="441901782"/>
      </p:ext>
    </p:extLst>
  </p:cSld>
  <p:clrMap bg1="dk1" tx1="lt1" bg2="dk2" tx2="lt2" accent1="accent1" accent2="accent2" accent3="accent3" accent4="accent4" accent5="accent5" accent6="accent6" hlink="hlink" folHlink="folHlink"/>
  <p:sldLayoutIdLst>
    <p:sldLayoutId id="2147483674" r:id="rId1"/>
    <p:sldLayoutId id="2147483705" r:id="rId2"/>
    <p:sldLayoutId id="2147483675" r:id="rId3"/>
    <p:sldLayoutId id="2147483706" r:id="rId4"/>
    <p:sldLayoutId id="2147483702" r:id="rId5"/>
    <p:sldLayoutId id="2147483676" r:id="rId6"/>
    <p:sldLayoutId id="2147483677" r:id="rId7"/>
    <p:sldLayoutId id="2147483692" r:id="rId8"/>
    <p:sldLayoutId id="2147483696" r:id="rId9"/>
    <p:sldLayoutId id="2147483678" r:id="rId10"/>
    <p:sldLayoutId id="2147483679" r:id="rId11"/>
    <p:sldLayoutId id="2147483680" r:id="rId12"/>
    <p:sldLayoutId id="2147483694" r:id="rId13"/>
    <p:sldLayoutId id="2147483681" r:id="rId14"/>
    <p:sldLayoutId id="2147483682" r:id="rId15"/>
    <p:sldLayoutId id="2147483683" r:id="rId16"/>
    <p:sldLayoutId id="2147483704" r:id="rId17"/>
    <p:sldLayoutId id="2147483684" r:id="rId18"/>
    <p:sldLayoutId id="2147483685" r:id="rId19"/>
    <p:sldLayoutId id="2147483686" r:id="rId20"/>
    <p:sldLayoutId id="2147483687" r:id="rId21"/>
    <p:sldLayoutId id="2147483693" r:id="rId22"/>
    <p:sldLayoutId id="2147483688" r:id="rId23"/>
    <p:sldLayoutId id="2147483689" r:id="rId24"/>
    <p:sldLayoutId id="2147483690" r:id="rId25"/>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14.png"/></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3.xml"/><Relationship Id="rId1" Type="http://schemas.openxmlformats.org/officeDocument/2006/relationships/themeOverride" Target="../theme/themeOverride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3C2F72B-764E-2021-71BB-AF1711F15172}"/>
              </a:ext>
            </a:extLst>
          </p:cNvPr>
          <p:cNvPicPr>
            <a:picLocks noChangeAspect="1"/>
          </p:cNvPicPr>
          <p:nvPr/>
        </p:nvPicPr>
        <p:blipFill>
          <a:blip r:embed="rId3"/>
          <a:stretch>
            <a:fillRect/>
          </a:stretch>
        </p:blipFill>
        <p:spPr>
          <a:xfrm>
            <a:off x="-48127" y="-207819"/>
            <a:ext cx="12360442" cy="8768189"/>
          </a:xfrm>
          <a:prstGeom prst="rect">
            <a:avLst/>
          </a:prstGeom>
        </p:spPr>
      </p:pic>
      <p:sp>
        <p:nvSpPr>
          <p:cNvPr id="2" name="Title 1">
            <a:extLst>
              <a:ext uri="{FF2B5EF4-FFF2-40B4-BE49-F238E27FC236}">
                <a16:creationId xmlns:a16="http://schemas.microsoft.com/office/drawing/2014/main" id="{3B928817-0C6F-5B9F-6267-FC4B15B03F62}"/>
              </a:ext>
            </a:extLst>
          </p:cNvPr>
          <p:cNvSpPr>
            <a:spLocks noGrp="1"/>
          </p:cNvSpPr>
          <p:nvPr>
            <p:ph type="ctrTitle"/>
          </p:nvPr>
        </p:nvSpPr>
        <p:spPr>
          <a:xfrm>
            <a:off x="2176333" y="4697815"/>
            <a:ext cx="8144134" cy="1373070"/>
          </a:xfrm>
        </p:spPr>
        <p:txBody>
          <a:bodyPr/>
          <a:lstStyle/>
          <a:p>
            <a:pPr algn="ctr"/>
            <a:r>
              <a:rPr lang="en-US" sz="4800" b="1" dirty="0">
                <a:latin typeface="Nunito Sans" pitchFamily="2" charset="0"/>
              </a:rPr>
              <a:t>Web Hacking Extreme Bootcamp</a:t>
            </a:r>
            <a:endParaRPr lang="en-IN" sz="4800" b="1" dirty="0">
              <a:latin typeface="Nunito Sans" pitchFamily="2" charset="0"/>
            </a:endParaRPr>
          </a:p>
        </p:txBody>
      </p:sp>
      <p:sp>
        <p:nvSpPr>
          <p:cNvPr id="3" name="AutoShape 2">
            <a:extLst>
              <a:ext uri="{FF2B5EF4-FFF2-40B4-BE49-F238E27FC236}">
                <a16:creationId xmlns:a16="http://schemas.microsoft.com/office/drawing/2014/main" id="{DF4FABA1-F26B-B3FF-6AEF-6A0F46A81A5E}"/>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34868597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AD8B9-5452-EED7-7914-BBE21D0F8B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242A24-182A-E928-451D-1ED5C2777425}"/>
              </a:ext>
            </a:extLst>
          </p:cNvPr>
          <p:cNvSpPr>
            <a:spLocks noGrp="1"/>
          </p:cNvSpPr>
          <p:nvPr>
            <p:ph type="ctrTitle"/>
          </p:nvPr>
        </p:nvSpPr>
        <p:spPr>
          <a:xfrm>
            <a:off x="566686" y="3203274"/>
            <a:ext cx="8144134" cy="971025"/>
          </a:xfrm>
        </p:spPr>
        <p:txBody>
          <a:bodyPr/>
          <a:lstStyle/>
          <a:p>
            <a:pPr algn="ctr"/>
            <a:r>
              <a:rPr lang="en-US" sz="4400" b="1" dirty="0">
                <a:latin typeface="Nunito Sans" pitchFamily="2" charset="0"/>
              </a:rPr>
              <a:t>Security Assertion Markup Language (SAML)</a:t>
            </a:r>
            <a:endParaRPr lang="en-IN" sz="4400" b="1" dirty="0">
              <a:latin typeface="Nunito Sans" pitchFamily="2" charset="0"/>
            </a:endParaRPr>
          </a:p>
        </p:txBody>
      </p:sp>
      <p:pic>
        <p:nvPicPr>
          <p:cNvPr id="3" name="Picture 4" descr="Join Redfox Security: Exciting Career Opportunities Await">
            <a:extLst>
              <a:ext uri="{FF2B5EF4-FFF2-40B4-BE49-F238E27FC236}">
                <a16:creationId xmlns:a16="http://schemas.microsoft.com/office/drawing/2014/main" id="{567690C4-E080-2D88-B035-AF833878DA6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987027" y="2683701"/>
            <a:ext cx="1490598" cy="14905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554205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7F89F2-F3A2-1CF3-831B-41195CE1E50C}"/>
              </a:ext>
            </a:extLst>
          </p:cNvPr>
          <p:cNvSpPr>
            <a:spLocks noGrp="1"/>
          </p:cNvSpPr>
          <p:nvPr>
            <p:ph type="title"/>
          </p:nvPr>
        </p:nvSpPr>
        <p:spPr/>
        <p:txBody>
          <a:bodyPr>
            <a:normAutofit/>
          </a:bodyPr>
          <a:lstStyle/>
          <a:p>
            <a:r>
              <a:rPr lang="en-US" sz="4000" b="1" dirty="0">
                <a:latin typeface="Nunito Sans" pitchFamily="2" charset="0"/>
              </a:rPr>
              <a:t>Topics</a:t>
            </a:r>
            <a:endParaRPr lang="en-IN" sz="4000" b="1" dirty="0">
              <a:latin typeface="Nunito Sans" pitchFamily="2" charset="0"/>
            </a:endParaRPr>
          </a:p>
        </p:txBody>
      </p:sp>
      <p:sp>
        <p:nvSpPr>
          <p:cNvPr id="3" name="Content Placeholder 2">
            <a:extLst>
              <a:ext uri="{FF2B5EF4-FFF2-40B4-BE49-F238E27FC236}">
                <a16:creationId xmlns:a16="http://schemas.microsoft.com/office/drawing/2014/main" id="{A23FF2B5-B844-613E-1A8C-D9417AF03EC4}"/>
              </a:ext>
            </a:extLst>
          </p:cNvPr>
          <p:cNvSpPr>
            <a:spLocks noGrp="1"/>
          </p:cNvSpPr>
          <p:nvPr>
            <p:ph idx="1"/>
          </p:nvPr>
        </p:nvSpPr>
        <p:spPr/>
        <p:txBody>
          <a:bodyPr/>
          <a:lstStyle/>
          <a:p>
            <a:pPr marL="457200" indent="-457200">
              <a:lnSpc>
                <a:spcPct val="100000"/>
              </a:lnSpc>
              <a:buFont typeface="+mj-lt"/>
              <a:buAutoNum type="arabicParenR"/>
            </a:pPr>
            <a:r>
              <a:rPr lang="en-IN" sz="2000" dirty="0">
                <a:solidFill>
                  <a:schemeClr val="bg1"/>
                </a:solidFill>
                <a:latin typeface="Nunito Sans" pitchFamily="2" charset="0"/>
              </a:rPr>
              <a:t>Introduction</a:t>
            </a:r>
          </a:p>
          <a:p>
            <a:pPr marL="457200" indent="-457200">
              <a:lnSpc>
                <a:spcPct val="100000"/>
              </a:lnSpc>
              <a:buFont typeface="+mj-lt"/>
              <a:buAutoNum type="arabicParenR"/>
            </a:pPr>
            <a:r>
              <a:rPr lang="en-IN" sz="2000" dirty="0">
                <a:solidFill>
                  <a:schemeClr val="bg1"/>
                </a:solidFill>
                <a:latin typeface="Nunito Sans" pitchFamily="2" charset="0"/>
              </a:rPr>
              <a:t>Core Components</a:t>
            </a:r>
          </a:p>
          <a:p>
            <a:pPr marL="457200" indent="-457200">
              <a:lnSpc>
                <a:spcPct val="100000"/>
              </a:lnSpc>
              <a:buFont typeface="+mj-lt"/>
              <a:buAutoNum type="arabicParenR"/>
            </a:pPr>
            <a:r>
              <a:rPr lang="en-IN" sz="2000" dirty="0">
                <a:solidFill>
                  <a:schemeClr val="bg1"/>
                </a:solidFill>
                <a:latin typeface="Nunito Sans" pitchFamily="2" charset="0"/>
              </a:rPr>
              <a:t>Authentication Flow</a:t>
            </a:r>
          </a:p>
          <a:p>
            <a:pPr marL="457200" indent="-457200">
              <a:lnSpc>
                <a:spcPct val="100000"/>
              </a:lnSpc>
              <a:buFont typeface="+mj-lt"/>
              <a:buAutoNum type="arabicParenR"/>
            </a:pPr>
            <a:r>
              <a:rPr lang="en-IN" sz="2000" dirty="0">
                <a:solidFill>
                  <a:schemeClr val="bg1"/>
                </a:solidFill>
                <a:latin typeface="Nunito Sans" pitchFamily="2" charset="0"/>
              </a:rPr>
              <a:t>Testcases</a:t>
            </a:r>
          </a:p>
          <a:p>
            <a:pPr marL="457200" indent="-457200">
              <a:lnSpc>
                <a:spcPct val="100000"/>
              </a:lnSpc>
              <a:buFont typeface="+mj-lt"/>
              <a:buAutoNum type="arabicParenR"/>
            </a:pPr>
            <a:r>
              <a:rPr lang="en-US" sz="2000" dirty="0">
                <a:solidFill>
                  <a:schemeClr val="bg1"/>
                </a:solidFill>
                <a:latin typeface="Nunito Sans" pitchFamily="2" charset="0"/>
              </a:rPr>
              <a:t>Exploitation and Attack scenarios</a:t>
            </a:r>
          </a:p>
        </p:txBody>
      </p:sp>
    </p:spTree>
    <p:extLst>
      <p:ext uri="{BB962C8B-B14F-4D97-AF65-F5344CB8AC3E}">
        <p14:creationId xmlns:p14="http://schemas.microsoft.com/office/powerpoint/2010/main" val="1261025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AE3804-4474-A0E2-8E9F-62751838460E}"/>
              </a:ext>
            </a:extLst>
          </p:cNvPr>
          <p:cNvSpPr>
            <a:spLocks noGrp="1"/>
          </p:cNvSpPr>
          <p:nvPr>
            <p:ph type="title"/>
          </p:nvPr>
        </p:nvSpPr>
        <p:spPr/>
        <p:txBody>
          <a:bodyPr>
            <a:normAutofit/>
          </a:bodyPr>
          <a:lstStyle/>
          <a:p>
            <a:r>
              <a:rPr lang="en-US" sz="4000" dirty="0">
                <a:latin typeface="Nunito Sans" pitchFamily="2" charset="0"/>
              </a:rPr>
              <a:t>Single Sign-on (SSO) </a:t>
            </a:r>
            <a:endParaRPr lang="en-IN" sz="4000" dirty="0">
              <a:latin typeface="Nunito Sans" pitchFamily="2" charset="0"/>
            </a:endParaRPr>
          </a:p>
        </p:txBody>
      </p:sp>
      <p:pic>
        <p:nvPicPr>
          <p:cNvPr id="8" name="Content Placeholder 7">
            <a:extLst>
              <a:ext uri="{FF2B5EF4-FFF2-40B4-BE49-F238E27FC236}">
                <a16:creationId xmlns:a16="http://schemas.microsoft.com/office/drawing/2014/main" id="{DF01B499-4734-9702-8D78-BF9FEA13001C}"/>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18396" y="3545681"/>
            <a:ext cx="6867525" cy="2628900"/>
          </a:xfrm>
          <a:ln w="28575">
            <a:solidFill>
              <a:srgbClr val="010207"/>
            </a:solidFill>
          </a:ln>
        </p:spPr>
      </p:pic>
      <p:pic>
        <p:nvPicPr>
          <p:cNvPr id="9" name="Picture 8">
            <a:extLst>
              <a:ext uri="{FF2B5EF4-FFF2-40B4-BE49-F238E27FC236}">
                <a16:creationId xmlns:a16="http://schemas.microsoft.com/office/drawing/2014/main" id="{CC27FAA3-A0B9-9FFA-23BB-6882DDA0EF3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000264" y="3545681"/>
            <a:ext cx="2886812" cy="2628900"/>
          </a:xfrm>
          <a:prstGeom prst="rect">
            <a:avLst/>
          </a:prstGeom>
          <a:ln w="28575">
            <a:solidFill>
              <a:schemeClr val="bg1"/>
            </a:solidFill>
          </a:ln>
        </p:spPr>
      </p:pic>
      <p:sp>
        <p:nvSpPr>
          <p:cNvPr id="10" name="TextBox 9">
            <a:extLst>
              <a:ext uri="{FF2B5EF4-FFF2-40B4-BE49-F238E27FC236}">
                <a16:creationId xmlns:a16="http://schemas.microsoft.com/office/drawing/2014/main" id="{AD8AD48E-C9FA-4CD7-B766-7EA3836CF997}"/>
              </a:ext>
            </a:extLst>
          </p:cNvPr>
          <p:cNvSpPr txBox="1"/>
          <p:nvPr/>
        </p:nvSpPr>
        <p:spPr>
          <a:xfrm>
            <a:off x="518396" y="2105561"/>
            <a:ext cx="9613861" cy="1323439"/>
          </a:xfrm>
          <a:prstGeom prst="rect">
            <a:avLst/>
          </a:prstGeom>
          <a:noFill/>
        </p:spPr>
        <p:txBody>
          <a:bodyPr wrap="square" rtlCol="0">
            <a:spAutoFit/>
          </a:bodyPr>
          <a:lstStyle/>
          <a:p>
            <a:r>
              <a:rPr lang="en-US" sz="2000" dirty="0">
                <a:solidFill>
                  <a:schemeClr val="bg1"/>
                </a:solidFill>
                <a:latin typeface="Nunito Sans" pitchFamily="2" charset="0"/>
              </a:rPr>
              <a:t>SSO (Single Sign-on) is a user authentication method that allows users to do authentication with multiple applications using a single set of credentials. Users can log in once into the system and gain access to all the authorized resources without the need for additional authentication.</a:t>
            </a:r>
            <a:endParaRPr lang="en-IN" sz="2000" dirty="0">
              <a:solidFill>
                <a:schemeClr val="bg1"/>
              </a:solidFill>
              <a:latin typeface="Nunito Sans" pitchFamily="2" charset="0"/>
            </a:endParaRPr>
          </a:p>
        </p:txBody>
      </p:sp>
    </p:spTree>
    <p:extLst>
      <p:ext uri="{BB962C8B-B14F-4D97-AF65-F5344CB8AC3E}">
        <p14:creationId xmlns:p14="http://schemas.microsoft.com/office/powerpoint/2010/main" val="13583378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CF64AC-1B7A-A614-72FE-134CC8296DD8}"/>
              </a:ext>
            </a:extLst>
          </p:cNvPr>
          <p:cNvSpPr>
            <a:spLocks noGrp="1"/>
          </p:cNvSpPr>
          <p:nvPr>
            <p:ph type="title"/>
          </p:nvPr>
        </p:nvSpPr>
        <p:spPr/>
        <p:txBody>
          <a:bodyPr>
            <a:normAutofit/>
          </a:bodyPr>
          <a:lstStyle/>
          <a:p>
            <a:r>
              <a:rPr lang="en-US" sz="4000" b="1" dirty="0">
                <a:latin typeface="Nunito Sans" pitchFamily="2" charset="0"/>
              </a:rPr>
              <a:t>Introduction to SAML</a:t>
            </a:r>
            <a:endParaRPr lang="en-IN" sz="4000" b="1" dirty="0">
              <a:latin typeface="Nunito Sans" pitchFamily="2" charset="0"/>
            </a:endParaRPr>
          </a:p>
        </p:txBody>
      </p:sp>
      <p:sp>
        <p:nvSpPr>
          <p:cNvPr id="8" name="Content Placeholder 4">
            <a:extLst>
              <a:ext uri="{FF2B5EF4-FFF2-40B4-BE49-F238E27FC236}">
                <a16:creationId xmlns:a16="http://schemas.microsoft.com/office/drawing/2014/main" id="{5D611E67-E992-F818-705A-B197D2BB2F35}"/>
              </a:ext>
            </a:extLst>
          </p:cNvPr>
          <p:cNvSpPr>
            <a:spLocks noGrp="1"/>
          </p:cNvSpPr>
          <p:nvPr>
            <p:ph idx="1"/>
          </p:nvPr>
        </p:nvSpPr>
        <p:spPr>
          <a:xfrm>
            <a:off x="680321" y="2336873"/>
            <a:ext cx="9613861" cy="3599316"/>
          </a:xfrm>
        </p:spPr>
        <p:txBody>
          <a:bodyPr>
            <a:normAutofit/>
          </a:bodyPr>
          <a:lstStyle/>
          <a:p>
            <a:r>
              <a:rPr lang="en-US" sz="2000" dirty="0">
                <a:solidFill>
                  <a:schemeClr val="bg1"/>
                </a:solidFill>
                <a:latin typeface="Nunito Sans" pitchFamily="2" charset="0"/>
              </a:rPr>
              <a:t>Security Assertion Markup Language (SAML) is an XML-based framework for Single Sign-On (SSO) and identity federation.</a:t>
            </a:r>
          </a:p>
          <a:p>
            <a:r>
              <a:rPr lang="en-US" sz="2000" dirty="0">
                <a:solidFill>
                  <a:schemeClr val="bg1"/>
                </a:solidFill>
                <a:latin typeface="Nunito Sans" pitchFamily="2" charset="0"/>
              </a:rPr>
              <a:t>You’ve more likely experienced SAML authentication in action in the work environment. </a:t>
            </a:r>
          </a:p>
          <a:p>
            <a:r>
              <a:rPr lang="en-US" sz="2000" dirty="0">
                <a:solidFill>
                  <a:schemeClr val="bg1"/>
                </a:solidFill>
                <a:latin typeface="Nunito Sans" pitchFamily="2" charset="0"/>
              </a:rPr>
              <a:t>For example, it enables you to log into your corporate intranet or IdP and then access numerous additional services, such as Salesforce, Box, or Workday, without having to re-enter your credentials. </a:t>
            </a:r>
          </a:p>
        </p:txBody>
      </p:sp>
    </p:spTree>
    <p:extLst>
      <p:ext uri="{BB962C8B-B14F-4D97-AF65-F5344CB8AC3E}">
        <p14:creationId xmlns:p14="http://schemas.microsoft.com/office/powerpoint/2010/main" val="319393924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20E581-625E-FFA0-F59C-6C94DB0FA3AB}"/>
              </a:ext>
            </a:extLst>
          </p:cNvPr>
          <p:cNvSpPr>
            <a:spLocks noGrp="1"/>
          </p:cNvSpPr>
          <p:nvPr>
            <p:ph type="title"/>
          </p:nvPr>
        </p:nvSpPr>
        <p:spPr/>
        <p:txBody>
          <a:bodyPr/>
          <a:lstStyle/>
          <a:p>
            <a:r>
              <a:rPr lang="en-US" dirty="0"/>
              <a:t>POV </a:t>
            </a:r>
            <a:r>
              <a:rPr lang="en-US" dirty="0">
                <a:sym typeface="Wingdings" panose="05000000000000000000" pitchFamily="2" charset="2"/>
              </a:rPr>
              <a:t> </a:t>
            </a:r>
            <a:endParaRPr lang="en-IN" dirty="0"/>
          </a:p>
        </p:txBody>
      </p:sp>
      <p:pic>
        <p:nvPicPr>
          <p:cNvPr id="6" name="Picture 5">
            <a:extLst>
              <a:ext uri="{FF2B5EF4-FFF2-40B4-BE49-F238E27FC236}">
                <a16:creationId xmlns:a16="http://schemas.microsoft.com/office/drawing/2014/main" id="{02806711-0925-2A53-909E-88AD01999B8E}"/>
              </a:ext>
            </a:extLst>
          </p:cNvPr>
          <p:cNvPicPr>
            <a:picLocks noChangeAspect="1"/>
          </p:cNvPicPr>
          <p:nvPr/>
        </p:nvPicPr>
        <p:blipFill>
          <a:blip r:embed="rId3"/>
          <a:stretch>
            <a:fillRect/>
          </a:stretch>
        </p:blipFill>
        <p:spPr>
          <a:xfrm>
            <a:off x="5995447" y="2305979"/>
            <a:ext cx="5732259" cy="4320000"/>
          </a:xfrm>
          <a:prstGeom prst="rect">
            <a:avLst/>
          </a:prstGeom>
          <a:ln w="28575">
            <a:solidFill>
              <a:schemeClr val="bg1"/>
            </a:solidFill>
          </a:ln>
        </p:spPr>
      </p:pic>
      <p:pic>
        <p:nvPicPr>
          <p:cNvPr id="10" name="Picture 9">
            <a:extLst>
              <a:ext uri="{FF2B5EF4-FFF2-40B4-BE49-F238E27FC236}">
                <a16:creationId xmlns:a16="http://schemas.microsoft.com/office/drawing/2014/main" id="{BC741921-7640-2318-3B49-64A946DD58D9}"/>
              </a:ext>
            </a:extLst>
          </p:cNvPr>
          <p:cNvPicPr>
            <a:picLocks noChangeAspect="1"/>
          </p:cNvPicPr>
          <p:nvPr/>
        </p:nvPicPr>
        <p:blipFill>
          <a:blip r:embed="rId4"/>
          <a:srcRect t="4524" b="6725"/>
          <a:stretch>
            <a:fillRect/>
          </a:stretch>
        </p:blipFill>
        <p:spPr>
          <a:xfrm>
            <a:off x="331529" y="2305978"/>
            <a:ext cx="5420772" cy="4320000"/>
          </a:xfrm>
          <a:prstGeom prst="rect">
            <a:avLst/>
          </a:prstGeom>
          <a:ln w="28575">
            <a:solidFill>
              <a:schemeClr val="bg1"/>
            </a:solidFill>
          </a:ln>
        </p:spPr>
      </p:pic>
    </p:spTree>
    <p:extLst>
      <p:ext uri="{BB962C8B-B14F-4D97-AF65-F5344CB8AC3E}">
        <p14:creationId xmlns:p14="http://schemas.microsoft.com/office/powerpoint/2010/main" val="1514250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B8F951-EF43-6771-C383-3C6268B9764A}"/>
              </a:ext>
            </a:extLst>
          </p:cNvPr>
          <p:cNvSpPr>
            <a:spLocks noGrp="1"/>
          </p:cNvSpPr>
          <p:nvPr>
            <p:ph type="title"/>
          </p:nvPr>
        </p:nvSpPr>
        <p:spPr/>
        <p:txBody>
          <a:bodyPr>
            <a:normAutofit/>
          </a:bodyPr>
          <a:lstStyle/>
          <a:p>
            <a:r>
              <a:rPr lang="en-US" sz="4000" dirty="0">
                <a:latin typeface="Nunito Sans" pitchFamily="2" charset="0"/>
              </a:rPr>
              <a:t>Core Concepts</a:t>
            </a:r>
            <a:endParaRPr lang="en-IN" sz="4000" dirty="0">
              <a:latin typeface="Nunito Sans" pitchFamily="2" charset="0"/>
            </a:endParaRPr>
          </a:p>
        </p:txBody>
      </p:sp>
      <p:sp>
        <p:nvSpPr>
          <p:cNvPr id="3" name="Content Placeholder 2">
            <a:extLst>
              <a:ext uri="{FF2B5EF4-FFF2-40B4-BE49-F238E27FC236}">
                <a16:creationId xmlns:a16="http://schemas.microsoft.com/office/drawing/2014/main" id="{48EA43B0-8FF4-8786-6827-BF9165FEB146}"/>
              </a:ext>
            </a:extLst>
          </p:cNvPr>
          <p:cNvSpPr>
            <a:spLocks noGrp="1"/>
          </p:cNvSpPr>
          <p:nvPr>
            <p:ph idx="1"/>
          </p:nvPr>
        </p:nvSpPr>
        <p:spPr>
          <a:xfrm>
            <a:off x="680322" y="2336873"/>
            <a:ext cx="5304100" cy="3599316"/>
          </a:xfrm>
        </p:spPr>
        <p:txBody>
          <a:bodyPr>
            <a:normAutofit/>
          </a:bodyPr>
          <a:lstStyle/>
          <a:p>
            <a:r>
              <a:rPr lang="en-US" sz="2000" dirty="0">
                <a:solidFill>
                  <a:schemeClr val="bg1"/>
                </a:solidFill>
                <a:latin typeface="Nunito Sans" pitchFamily="2" charset="0"/>
              </a:rPr>
              <a:t>Authentication Flow</a:t>
            </a:r>
          </a:p>
          <a:p>
            <a:r>
              <a:rPr lang="en-US" sz="2000" dirty="0">
                <a:solidFill>
                  <a:schemeClr val="bg1"/>
                </a:solidFill>
                <a:latin typeface="Nunito Sans" pitchFamily="2" charset="0"/>
              </a:rPr>
              <a:t>Assertions, Protocols, Bindings and Profiles</a:t>
            </a:r>
          </a:p>
          <a:p>
            <a:r>
              <a:rPr lang="en-US" sz="2000" dirty="0">
                <a:solidFill>
                  <a:schemeClr val="bg1"/>
                </a:solidFill>
                <a:latin typeface="Nunito Sans" pitchFamily="2" charset="0"/>
              </a:rPr>
              <a:t>SAML Schema Structure </a:t>
            </a:r>
          </a:p>
          <a:p>
            <a:pPr marL="0" indent="0">
              <a:buNone/>
            </a:pPr>
            <a:endParaRPr lang="en-US" sz="2000" dirty="0">
              <a:solidFill>
                <a:schemeClr val="bg1"/>
              </a:solidFill>
              <a:latin typeface="Nunito Sans" pitchFamily="2" charset="0"/>
            </a:endParaRPr>
          </a:p>
          <a:p>
            <a:pPr marL="0" indent="0">
              <a:buNone/>
            </a:pPr>
            <a:endParaRPr lang="en-US" sz="2000" dirty="0">
              <a:solidFill>
                <a:schemeClr val="bg1"/>
              </a:solidFill>
              <a:latin typeface="Nunito Sans" pitchFamily="2" charset="0"/>
            </a:endParaRPr>
          </a:p>
          <a:p>
            <a:endParaRPr lang="en-IN" sz="2000" dirty="0">
              <a:latin typeface="Nunito Sans" pitchFamily="2" charset="0"/>
            </a:endParaRPr>
          </a:p>
        </p:txBody>
      </p:sp>
      <p:pic>
        <p:nvPicPr>
          <p:cNvPr id="4" name="Content Placeholder 3">
            <a:extLst>
              <a:ext uri="{FF2B5EF4-FFF2-40B4-BE49-F238E27FC236}">
                <a16:creationId xmlns:a16="http://schemas.microsoft.com/office/drawing/2014/main" id="{D06C7B31-E3A0-2FCE-22FD-686490AE7243}"/>
              </a:ext>
            </a:extLst>
          </p:cNvPr>
          <p:cNvPicPr>
            <a:picLocks noChangeAspect="1"/>
          </p:cNvPicPr>
          <p:nvPr/>
        </p:nvPicPr>
        <p:blipFill>
          <a:blip r:embed="rId2"/>
          <a:stretch>
            <a:fillRect/>
          </a:stretch>
        </p:blipFill>
        <p:spPr>
          <a:xfrm>
            <a:off x="6096000" y="2086407"/>
            <a:ext cx="5602388" cy="4668657"/>
          </a:xfrm>
          <a:prstGeom prst="rect">
            <a:avLst/>
          </a:prstGeom>
          <a:ln w="28575">
            <a:solidFill>
              <a:schemeClr val="bg1"/>
            </a:solidFill>
          </a:ln>
        </p:spPr>
      </p:pic>
    </p:spTree>
    <p:extLst>
      <p:ext uri="{BB962C8B-B14F-4D97-AF65-F5344CB8AC3E}">
        <p14:creationId xmlns:p14="http://schemas.microsoft.com/office/powerpoint/2010/main" val="44666046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03FA55-72C7-4B6D-8736-8EDF647332AA}"/>
              </a:ext>
            </a:extLst>
          </p:cNvPr>
          <p:cNvSpPr>
            <a:spLocks noGrp="1"/>
          </p:cNvSpPr>
          <p:nvPr>
            <p:ph type="title"/>
          </p:nvPr>
        </p:nvSpPr>
        <p:spPr/>
        <p:txBody>
          <a:bodyPr>
            <a:normAutofit/>
          </a:bodyPr>
          <a:lstStyle/>
          <a:p>
            <a:r>
              <a:rPr lang="en-US" sz="4000" dirty="0">
                <a:latin typeface="Nunito Sans" pitchFamily="2" charset="0"/>
              </a:rPr>
              <a:t> 3 Trinity of SAML </a:t>
            </a:r>
            <a:endParaRPr lang="en-IN" sz="4000" dirty="0">
              <a:latin typeface="Nunito Sans" pitchFamily="2" charset="0"/>
            </a:endParaRPr>
          </a:p>
        </p:txBody>
      </p:sp>
      <p:sp>
        <p:nvSpPr>
          <p:cNvPr id="3" name="Content Placeholder 2">
            <a:extLst>
              <a:ext uri="{FF2B5EF4-FFF2-40B4-BE49-F238E27FC236}">
                <a16:creationId xmlns:a16="http://schemas.microsoft.com/office/drawing/2014/main" id="{C14C8737-E17B-AD51-DC92-04207AF9867F}"/>
              </a:ext>
            </a:extLst>
          </p:cNvPr>
          <p:cNvSpPr>
            <a:spLocks noGrp="1"/>
          </p:cNvSpPr>
          <p:nvPr>
            <p:ph idx="1"/>
          </p:nvPr>
        </p:nvSpPr>
        <p:spPr/>
        <p:txBody>
          <a:bodyPr/>
          <a:lstStyle/>
          <a:p>
            <a:pPr>
              <a:spcAft>
                <a:spcPts val="150"/>
              </a:spcAft>
            </a:pPr>
            <a:r>
              <a:rPr lang="en-US" sz="2000" dirty="0">
                <a:solidFill>
                  <a:schemeClr val="bg1"/>
                </a:solidFill>
                <a:latin typeface="Nunito Sans" pitchFamily="2" charset="0"/>
              </a:rPr>
              <a:t>Identity Provider (IdP): Authenticates users and issues SAML assertions (XML documents confirming identity and permissions)</a:t>
            </a:r>
          </a:p>
          <a:p>
            <a:pPr>
              <a:spcAft>
                <a:spcPts val="150"/>
              </a:spcAft>
            </a:pPr>
            <a:r>
              <a:rPr lang="en-US" sz="2000" dirty="0">
                <a:solidFill>
                  <a:schemeClr val="bg1"/>
                </a:solidFill>
                <a:latin typeface="Nunito Sans" pitchFamily="2" charset="0"/>
              </a:rPr>
              <a:t>Service Provider (SP): Relies on the IdP's assertions to grant access to its services</a:t>
            </a:r>
          </a:p>
          <a:p>
            <a:pPr>
              <a:spcAft>
                <a:spcPts val="150"/>
              </a:spcAft>
            </a:pPr>
            <a:r>
              <a:rPr lang="en-US" sz="2000" dirty="0">
                <a:solidFill>
                  <a:schemeClr val="bg1"/>
                </a:solidFill>
                <a:latin typeface="Nunito Sans" pitchFamily="2" charset="0"/>
              </a:rPr>
              <a:t>User: The person seeking access to the SP's resources</a:t>
            </a:r>
          </a:p>
          <a:p>
            <a:endParaRPr lang="en-IN" dirty="0"/>
          </a:p>
        </p:txBody>
      </p:sp>
    </p:spTree>
    <p:extLst>
      <p:ext uri="{BB962C8B-B14F-4D97-AF65-F5344CB8AC3E}">
        <p14:creationId xmlns:p14="http://schemas.microsoft.com/office/powerpoint/2010/main" val="23020979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E0A57F-9144-D2DF-ABA9-61D5ACD328EF}"/>
              </a:ext>
            </a:extLst>
          </p:cNvPr>
          <p:cNvSpPr>
            <a:spLocks noGrp="1"/>
          </p:cNvSpPr>
          <p:nvPr>
            <p:ph type="title"/>
          </p:nvPr>
        </p:nvSpPr>
        <p:spPr/>
        <p:txBody>
          <a:bodyPr>
            <a:normAutofit/>
          </a:bodyPr>
          <a:lstStyle/>
          <a:p>
            <a:pPr>
              <a:lnSpc>
                <a:spcPct val="100000"/>
              </a:lnSpc>
            </a:pPr>
            <a:r>
              <a:rPr lang="en-US" sz="4000" b="1" dirty="0">
                <a:latin typeface="Nunito Sans" pitchFamily="2" charset="0"/>
              </a:rPr>
              <a:t>A</a:t>
            </a:r>
            <a:r>
              <a:rPr lang="en-IN" sz="4000" b="1" dirty="0" err="1">
                <a:latin typeface="Nunito Sans" pitchFamily="2" charset="0"/>
              </a:rPr>
              <a:t>uthentication</a:t>
            </a:r>
            <a:r>
              <a:rPr lang="en-IN" sz="4000" b="1" dirty="0">
                <a:latin typeface="Nunito Sans" pitchFamily="2" charset="0"/>
              </a:rPr>
              <a:t> Flow</a:t>
            </a:r>
          </a:p>
        </p:txBody>
      </p:sp>
      <p:pic>
        <p:nvPicPr>
          <p:cNvPr id="17" name="Picture 16">
            <a:extLst>
              <a:ext uri="{FF2B5EF4-FFF2-40B4-BE49-F238E27FC236}">
                <a16:creationId xmlns:a16="http://schemas.microsoft.com/office/drawing/2014/main" id="{96520203-716B-43DA-8F9A-6B56F1B618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82944" y="1532428"/>
            <a:ext cx="5400000" cy="5400000"/>
          </a:xfrm>
          <a:prstGeom prst="rect">
            <a:avLst/>
          </a:prstGeom>
        </p:spPr>
      </p:pic>
    </p:spTree>
    <p:extLst>
      <p:ext uri="{BB962C8B-B14F-4D97-AF65-F5344CB8AC3E}">
        <p14:creationId xmlns:p14="http://schemas.microsoft.com/office/powerpoint/2010/main" val="32725854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1EC990-DC9C-DC48-646D-44B3BCDF460F}"/>
              </a:ext>
            </a:extLst>
          </p:cNvPr>
          <p:cNvSpPr>
            <a:spLocks noGrp="1"/>
          </p:cNvSpPr>
          <p:nvPr>
            <p:ph type="title"/>
          </p:nvPr>
        </p:nvSpPr>
        <p:spPr/>
        <p:txBody>
          <a:bodyPr>
            <a:normAutofit/>
          </a:bodyPr>
          <a:lstStyle/>
          <a:p>
            <a:r>
              <a:rPr lang="en-US" sz="4000" dirty="0">
                <a:latin typeface="Nunito Sans" pitchFamily="2" charset="0"/>
              </a:rPr>
              <a:t>SAML Assertions</a:t>
            </a:r>
            <a:endParaRPr lang="en-IN" sz="4000" dirty="0">
              <a:latin typeface="Nunito Sans" pitchFamily="2" charset="0"/>
            </a:endParaRPr>
          </a:p>
        </p:txBody>
      </p:sp>
      <p:sp>
        <p:nvSpPr>
          <p:cNvPr id="3" name="Content Placeholder 2">
            <a:extLst>
              <a:ext uri="{FF2B5EF4-FFF2-40B4-BE49-F238E27FC236}">
                <a16:creationId xmlns:a16="http://schemas.microsoft.com/office/drawing/2014/main" id="{DB42BAE7-CCEB-DFC2-C90E-1DA9F28E7ECB}"/>
              </a:ext>
            </a:extLst>
          </p:cNvPr>
          <p:cNvSpPr>
            <a:spLocks noGrp="1"/>
          </p:cNvSpPr>
          <p:nvPr>
            <p:ph idx="1"/>
          </p:nvPr>
        </p:nvSpPr>
        <p:spPr>
          <a:xfrm>
            <a:off x="680321" y="2264735"/>
            <a:ext cx="9613861" cy="4306186"/>
          </a:xfrm>
        </p:spPr>
        <p:txBody>
          <a:bodyPr>
            <a:normAutofit/>
          </a:bodyPr>
          <a:lstStyle/>
          <a:p>
            <a:pPr marL="0" indent="0">
              <a:buNone/>
            </a:pPr>
            <a:r>
              <a:rPr lang="en-US" sz="1700" dirty="0">
                <a:solidFill>
                  <a:schemeClr val="bg1"/>
                </a:solidFill>
                <a:latin typeface="Nunito Sans" pitchFamily="2" charset="0"/>
              </a:rPr>
              <a:t>It</a:t>
            </a:r>
            <a:r>
              <a:rPr lang="en-US" sz="1700" dirty="0">
                <a:latin typeface="Nunito Sans" pitchFamily="2" charset="0"/>
              </a:rPr>
              <a:t> </a:t>
            </a:r>
            <a:r>
              <a:rPr lang="en-US" sz="1700" dirty="0">
                <a:solidFill>
                  <a:schemeClr val="bg1"/>
                </a:solidFill>
                <a:latin typeface="Nunito Sans" pitchFamily="2" charset="0"/>
              </a:rPr>
              <a:t>is written in XML (Extensible Markup Language), including the identity information and attributes of the user. Identity information can include usernames, email addresses, roles and other attributes that SPs can use to provide personalization.</a:t>
            </a:r>
          </a:p>
          <a:p>
            <a:pPr marL="0" indent="0">
              <a:buNone/>
            </a:pPr>
            <a:r>
              <a:rPr lang="en-US" sz="1700" dirty="0">
                <a:solidFill>
                  <a:schemeClr val="bg1"/>
                </a:solidFill>
                <a:latin typeface="Nunito Sans" pitchFamily="2" charset="0"/>
              </a:rPr>
              <a:t>SAML assertions play a crucial role in SAML-based SSO by conveying trusted information about the user's identity from the Identity Provider (IdP) to the Service Provider (SP). The SP depends on the assertions to make access control decisions and grant users access to protected resources or services.</a:t>
            </a:r>
          </a:p>
          <a:p>
            <a:pPr marL="0" indent="0">
              <a:buNone/>
            </a:pPr>
            <a:endParaRPr lang="en-US" sz="1700" dirty="0">
              <a:solidFill>
                <a:schemeClr val="bg1"/>
              </a:solidFill>
              <a:latin typeface="Nunito Sans" pitchFamily="2" charset="0"/>
            </a:endParaRPr>
          </a:p>
          <a:p>
            <a:pPr marL="0" indent="0">
              <a:buNone/>
            </a:pPr>
            <a:r>
              <a:rPr lang="en-US" sz="1700" dirty="0">
                <a:solidFill>
                  <a:schemeClr val="bg1"/>
                </a:solidFill>
                <a:latin typeface="Nunito Sans" pitchFamily="2" charset="0"/>
              </a:rPr>
              <a:t>There are three types of SAML assertions based on their purpose and the information they share:</a:t>
            </a:r>
          </a:p>
          <a:p>
            <a:r>
              <a:rPr lang="en-US" sz="1700" b="1" dirty="0">
                <a:solidFill>
                  <a:schemeClr val="bg1"/>
                </a:solidFill>
                <a:latin typeface="Nunito Sans" pitchFamily="2" charset="0"/>
              </a:rPr>
              <a:t>Authentication Assertion </a:t>
            </a:r>
            <a:r>
              <a:rPr lang="en-US" sz="1700" dirty="0">
                <a:solidFill>
                  <a:schemeClr val="bg1"/>
                </a:solidFill>
                <a:latin typeface="Nunito Sans" pitchFamily="2" charset="0"/>
              </a:rPr>
              <a:t>asserts that the IdP has authenticated the user.</a:t>
            </a:r>
          </a:p>
          <a:p>
            <a:r>
              <a:rPr lang="en-US" sz="1700" b="1" dirty="0">
                <a:solidFill>
                  <a:schemeClr val="bg1"/>
                </a:solidFill>
                <a:latin typeface="Nunito Sans" pitchFamily="2" charset="0"/>
              </a:rPr>
              <a:t>Attribute Assertion</a:t>
            </a:r>
            <a:r>
              <a:rPr lang="en-US" sz="1700" dirty="0">
                <a:solidFill>
                  <a:schemeClr val="bg1"/>
                </a:solidFill>
                <a:latin typeface="Nunito Sans" pitchFamily="2" charset="0"/>
              </a:rPr>
              <a:t> contains additional attributes about the user's identity and characteristics.</a:t>
            </a:r>
          </a:p>
          <a:p>
            <a:r>
              <a:rPr lang="en-US" sz="1700" b="1" dirty="0">
                <a:solidFill>
                  <a:schemeClr val="bg1"/>
                </a:solidFill>
                <a:latin typeface="Nunito Sans" pitchFamily="2" charset="0"/>
              </a:rPr>
              <a:t>Authorization Decision Assertion</a:t>
            </a:r>
            <a:r>
              <a:rPr lang="en-US" sz="1700" dirty="0">
                <a:solidFill>
                  <a:schemeClr val="bg1"/>
                </a:solidFill>
                <a:latin typeface="Nunito Sans" pitchFamily="2" charset="0"/>
              </a:rPr>
              <a:t> specifies the authorization decision made by the IdP based on the user's attributes.</a:t>
            </a:r>
          </a:p>
          <a:p>
            <a:endParaRPr lang="en-IN" sz="1700" dirty="0"/>
          </a:p>
        </p:txBody>
      </p:sp>
    </p:spTree>
    <p:extLst>
      <p:ext uri="{BB962C8B-B14F-4D97-AF65-F5344CB8AC3E}">
        <p14:creationId xmlns:p14="http://schemas.microsoft.com/office/powerpoint/2010/main" val="16001431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782164-67A2-E644-CBF2-497CB0958065}"/>
              </a:ext>
            </a:extLst>
          </p:cNvPr>
          <p:cNvSpPr>
            <a:spLocks noGrp="1"/>
          </p:cNvSpPr>
          <p:nvPr>
            <p:ph type="title"/>
          </p:nvPr>
        </p:nvSpPr>
        <p:spPr/>
        <p:txBody>
          <a:bodyPr>
            <a:normAutofit/>
          </a:bodyPr>
          <a:lstStyle/>
          <a:p>
            <a:r>
              <a:rPr lang="en-US" sz="4000" dirty="0">
                <a:latin typeface="Nunito Sans" pitchFamily="2" charset="0"/>
              </a:rPr>
              <a:t>SAML Protocols</a:t>
            </a:r>
            <a:endParaRPr lang="en-IN" sz="4000" dirty="0">
              <a:latin typeface="Nunito Sans" pitchFamily="2" charset="0"/>
            </a:endParaRPr>
          </a:p>
        </p:txBody>
      </p:sp>
      <p:sp>
        <p:nvSpPr>
          <p:cNvPr id="3" name="Content Placeholder 2">
            <a:extLst>
              <a:ext uri="{FF2B5EF4-FFF2-40B4-BE49-F238E27FC236}">
                <a16:creationId xmlns:a16="http://schemas.microsoft.com/office/drawing/2014/main" id="{888546B6-4EEA-18A5-8962-8B721A26419C}"/>
              </a:ext>
            </a:extLst>
          </p:cNvPr>
          <p:cNvSpPr>
            <a:spLocks noGrp="1"/>
          </p:cNvSpPr>
          <p:nvPr>
            <p:ph idx="1"/>
          </p:nvPr>
        </p:nvSpPr>
        <p:spPr/>
        <p:txBody>
          <a:bodyPr>
            <a:normAutofit/>
          </a:bodyPr>
          <a:lstStyle/>
          <a:p>
            <a:pPr marL="0" indent="0">
              <a:buNone/>
            </a:pPr>
            <a:r>
              <a:rPr lang="en-US" sz="1700" dirty="0">
                <a:solidFill>
                  <a:schemeClr val="bg1"/>
                </a:solidFill>
                <a:latin typeface="Nunito Sans" pitchFamily="2" charset="0"/>
              </a:rPr>
              <a:t>SAML protocols define the standard format and rules for sharing authentication and authorization data between systems. </a:t>
            </a:r>
          </a:p>
          <a:p>
            <a:pPr marL="0" indent="0">
              <a:buNone/>
            </a:pPr>
            <a:endParaRPr lang="en-US" sz="1700" dirty="0">
              <a:solidFill>
                <a:schemeClr val="bg1"/>
              </a:solidFill>
              <a:latin typeface="Nunito Sans" pitchFamily="2" charset="0"/>
            </a:endParaRPr>
          </a:p>
          <a:p>
            <a:pPr marL="0" indent="0">
              <a:buNone/>
            </a:pPr>
            <a:r>
              <a:rPr lang="en-US" sz="1700" dirty="0">
                <a:solidFill>
                  <a:schemeClr val="bg1"/>
                </a:solidFill>
                <a:latin typeface="Nunito Sans" pitchFamily="2" charset="0"/>
              </a:rPr>
              <a:t>There are several SAML protocols, including:</a:t>
            </a:r>
          </a:p>
          <a:p>
            <a:r>
              <a:rPr lang="en-US" sz="1700" b="1" dirty="0">
                <a:solidFill>
                  <a:schemeClr val="bg1"/>
                </a:solidFill>
                <a:latin typeface="Nunito Sans" pitchFamily="2" charset="0"/>
              </a:rPr>
              <a:t>The Single Logout (SLO) protocol</a:t>
            </a:r>
            <a:r>
              <a:rPr lang="en-US" sz="1700" dirty="0">
                <a:solidFill>
                  <a:schemeClr val="bg1"/>
                </a:solidFill>
                <a:latin typeface="Nunito Sans" pitchFamily="2" charset="0"/>
              </a:rPr>
              <a:t> allows users to log out of all the accounts using a single action.</a:t>
            </a:r>
          </a:p>
          <a:p>
            <a:r>
              <a:rPr lang="en-US" sz="1700" b="1" dirty="0">
                <a:solidFill>
                  <a:schemeClr val="bg1"/>
                </a:solidFill>
                <a:latin typeface="Nunito Sans" pitchFamily="2" charset="0"/>
              </a:rPr>
              <a:t>The Single Sign-On (SSO) protocol</a:t>
            </a:r>
            <a:r>
              <a:rPr lang="en-US" sz="1700" dirty="0">
                <a:solidFill>
                  <a:schemeClr val="bg1"/>
                </a:solidFill>
                <a:latin typeface="Nunito Sans" pitchFamily="2" charset="0"/>
              </a:rPr>
              <a:t> enables them to log in to multiple accounts with a single login action.</a:t>
            </a:r>
          </a:p>
          <a:p>
            <a:endParaRPr lang="en-IN" sz="2000" dirty="0">
              <a:solidFill>
                <a:schemeClr val="bg1"/>
              </a:solidFill>
              <a:latin typeface="Nunito Sans" pitchFamily="2" charset="0"/>
              <a:ea typeface="+mj-ea"/>
              <a:cs typeface="+mj-cs"/>
            </a:endParaRPr>
          </a:p>
        </p:txBody>
      </p:sp>
    </p:spTree>
    <p:extLst>
      <p:ext uri="{BB962C8B-B14F-4D97-AF65-F5344CB8AC3E}">
        <p14:creationId xmlns:p14="http://schemas.microsoft.com/office/powerpoint/2010/main" val="12845330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E346F2-B5A8-86C6-DD55-ED07712887B1}"/>
              </a:ext>
            </a:extLst>
          </p:cNvPr>
          <p:cNvSpPr>
            <a:spLocks noGrp="1"/>
          </p:cNvSpPr>
          <p:nvPr>
            <p:ph type="title"/>
          </p:nvPr>
        </p:nvSpPr>
        <p:spPr/>
        <p:txBody>
          <a:bodyPr>
            <a:normAutofit/>
          </a:bodyPr>
          <a:lstStyle/>
          <a:p>
            <a:r>
              <a:rPr lang="en-US" sz="4000" dirty="0">
                <a:latin typeface="Nunito Sans" pitchFamily="2" charset="0"/>
              </a:rPr>
              <a:t>SAML Bindings</a:t>
            </a:r>
            <a:endParaRPr lang="en-IN" sz="4000" dirty="0">
              <a:latin typeface="Nunito Sans" pitchFamily="2" charset="0"/>
            </a:endParaRPr>
          </a:p>
        </p:txBody>
      </p:sp>
      <p:sp>
        <p:nvSpPr>
          <p:cNvPr id="3" name="Content Placeholder 2">
            <a:extLst>
              <a:ext uri="{FF2B5EF4-FFF2-40B4-BE49-F238E27FC236}">
                <a16:creationId xmlns:a16="http://schemas.microsoft.com/office/drawing/2014/main" id="{CFF947DD-85BA-9639-CBF7-BF435795F776}"/>
              </a:ext>
            </a:extLst>
          </p:cNvPr>
          <p:cNvSpPr>
            <a:spLocks noGrp="1"/>
          </p:cNvSpPr>
          <p:nvPr>
            <p:ph idx="1"/>
          </p:nvPr>
        </p:nvSpPr>
        <p:spPr/>
        <p:txBody>
          <a:bodyPr>
            <a:normAutofit/>
          </a:bodyPr>
          <a:lstStyle/>
          <a:p>
            <a:pPr marL="0" indent="0">
              <a:buNone/>
            </a:pPr>
            <a:r>
              <a:rPr lang="en-US" sz="1700" dirty="0">
                <a:solidFill>
                  <a:schemeClr val="bg1"/>
                </a:solidFill>
                <a:latin typeface="Nunito Sans" pitchFamily="2" charset="0"/>
              </a:rPr>
              <a:t>SAML bindings specify how SAML messages are exchanged between IdP and SP, defining transport mechanisms and formats. There are several types of SAML bindings for specific purposes. Among them, HTTP POST and redirect bindings are the most commonly used:</a:t>
            </a:r>
          </a:p>
          <a:p>
            <a:endParaRPr lang="en-US" sz="1700" dirty="0">
              <a:solidFill>
                <a:schemeClr val="bg1"/>
              </a:solidFill>
              <a:latin typeface="Nunito Sans" pitchFamily="2" charset="0"/>
            </a:endParaRPr>
          </a:p>
          <a:p>
            <a:r>
              <a:rPr lang="en-US" sz="1700" b="1" dirty="0">
                <a:solidFill>
                  <a:schemeClr val="bg1"/>
                </a:solidFill>
                <a:latin typeface="Nunito Sans" pitchFamily="2" charset="0"/>
              </a:rPr>
              <a:t>HTTP Redirect binding</a:t>
            </a:r>
            <a:r>
              <a:rPr lang="en-US" sz="1700" dirty="0">
                <a:solidFill>
                  <a:schemeClr val="bg1"/>
                </a:solidFill>
                <a:latin typeface="Nunito Sans" pitchFamily="2" charset="0"/>
              </a:rPr>
              <a:t> enables encoding SAML messages, especially when they are too large, and redirects the user to the destination.</a:t>
            </a:r>
          </a:p>
          <a:p>
            <a:r>
              <a:rPr lang="en-US" sz="1700" b="1" dirty="0">
                <a:solidFill>
                  <a:schemeClr val="bg1"/>
                </a:solidFill>
                <a:latin typeface="Nunito Sans" pitchFamily="2" charset="0"/>
              </a:rPr>
              <a:t>HTTP POST binding</a:t>
            </a:r>
            <a:r>
              <a:rPr lang="en-US" sz="1700" dirty="0">
                <a:solidFill>
                  <a:schemeClr val="bg1"/>
                </a:solidFill>
                <a:latin typeface="Nunito Sans" pitchFamily="2" charset="0"/>
              </a:rPr>
              <a:t> allows encoding SAML messages as HTML form parameters.</a:t>
            </a:r>
          </a:p>
          <a:p>
            <a:endParaRPr lang="en-IN" sz="4000" dirty="0">
              <a:latin typeface="Nunito Sans" pitchFamily="2" charset="0"/>
              <a:ea typeface="+mj-ea"/>
              <a:cs typeface="+mj-cs"/>
            </a:endParaRPr>
          </a:p>
        </p:txBody>
      </p:sp>
    </p:spTree>
    <p:extLst>
      <p:ext uri="{BB962C8B-B14F-4D97-AF65-F5344CB8AC3E}">
        <p14:creationId xmlns:p14="http://schemas.microsoft.com/office/powerpoint/2010/main" val="2762042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046BAB-CD65-4AD0-FB48-CD007D2C24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5CCEEF-E673-E611-5522-B406B0A25B98}"/>
              </a:ext>
            </a:extLst>
          </p:cNvPr>
          <p:cNvSpPr>
            <a:spLocks noGrp="1"/>
          </p:cNvSpPr>
          <p:nvPr>
            <p:ph type="title"/>
          </p:nvPr>
        </p:nvSpPr>
        <p:spPr/>
        <p:txBody>
          <a:bodyPr>
            <a:normAutofit/>
          </a:bodyPr>
          <a:lstStyle/>
          <a:p>
            <a:r>
              <a:rPr lang="en-US" sz="4000" dirty="0">
                <a:latin typeface="Nunito Sans" pitchFamily="2" charset="0"/>
              </a:rPr>
              <a:t>SAML Profiles</a:t>
            </a:r>
            <a:endParaRPr lang="en-IN" sz="4000" dirty="0">
              <a:latin typeface="Nunito Sans" pitchFamily="2" charset="0"/>
            </a:endParaRPr>
          </a:p>
        </p:txBody>
      </p:sp>
      <p:sp>
        <p:nvSpPr>
          <p:cNvPr id="3" name="Content Placeholder 2">
            <a:extLst>
              <a:ext uri="{FF2B5EF4-FFF2-40B4-BE49-F238E27FC236}">
                <a16:creationId xmlns:a16="http://schemas.microsoft.com/office/drawing/2014/main" id="{522BC5AF-F41B-CD9A-1F18-B0FAA4EAA674}"/>
              </a:ext>
            </a:extLst>
          </p:cNvPr>
          <p:cNvSpPr>
            <a:spLocks noGrp="1"/>
          </p:cNvSpPr>
          <p:nvPr>
            <p:ph idx="1"/>
          </p:nvPr>
        </p:nvSpPr>
        <p:spPr/>
        <p:txBody>
          <a:bodyPr>
            <a:normAutofit/>
          </a:bodyPr>
          <a:lstStyle/>
          <a:p>
            <a:r>
              <a:rPr lang="en-US" sz="1700" dirty="0">
                <a:solidFill>
                  <a:schemeClr val="bg1"/>
                </a:solidFill>
                <a:latin typeface="Nunito Sans" pitchFamily="2" charset="0"/>
              </a:rPr>
              <a:t>SAML profiles define how other SAML components should be combined to form the SAML request for different contexts or scenarios, specifying the required rules, constraints and configurations. The profile guides how SAML protocols, bindings and other components must be used to achieve the expected behavior in different scenarios.</a:t>
            </a:r>
          </a:p>
          <a:p>
            <a:r>
              <a:rPr lang="en-US" sz="1700" dirty="0">
                <a:solidFill>
                  <a:schemeClr val="bg1"/>
                </a:solidFill>
                <a:latin typeface="Nunito Sans" pitchFamily="2" charset="0"/>
              </a:rPr>
              <a:t>For example, an SSO profile specifies what bindings are required for successful sign-in. Meanwhile, a single logout profile defines all the necessary behaviors and requirements for a successful system logout.</a:t>
            </a:r>
          </a:p>
          <a:p>
            <a:endParaRPr lang="en-IN" sz="2000" dirty="0">
              <a:solidFill>
                <a:schemeClr val="bg1"/>
              </a:solidFill>
              <a:latin typeface="Nunito Sans" pitchFamily="2" charset="0"/>
            </a:endParaRPr>
          </a:p>
        </p:txBody>
      </p:sp>
    </p:spTree>
    <p:extLst>
      <p:ext uri="{BB962C8B-B14F-4D97-AF65-F5344CB8AC3E}">
        <p14:creationId xmlns:p14="http://schemas.microsoft.com/office/powerpoint/2010/main" val="33258037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E05D9D-CFAB-F1A6-B7F0-1EFD2ED59CB5}"/>
              </a:ext>
            </a:extLst>
          </p:cNvPr>
          <p:cNvSpPr>
            <a:spLocks noGrp="1"/>
          </p:cNvSpPr>
          <p:nvPr>
            <p:ph type="title"/>
          </p:nvPr>
        </p:nvSpPr>
        <p:spPr/>
        <p:txBody>
          <a:bodyPr/>
          <a:lstStyle/>
          <a:p>
            <a:r>
              <a:rPr lang="en-US" dirty="0"/>
              <a:t>Summarize </a:t>
            </a:r>
            <a:endParaRPr lang="en-IN" dirty="0"/>
          </a:p>
        </p:txBody>
      </p:sp>
      <p:pic>
        <p:nvPicPr>
          <p:cNvPr id="5" name="Picture 4">
            <a:extLst>
              <a:ext uri="{FF2B5EF4-FFF2-40B4-BE49-F238E27FC236}">
                <a16:creationId xmlns:a16="http://schemas.microsoft.com/office/drawing/2014/main" id="{7E2AF647-D611-348B-005D-EC4F1C8C0D86}"/>
              </a:ext>
            </a:extLst>
          </p:cNvPr>
          <p:cNvPicPr>
            <a:picLocks noChangeAspect="1"/>
          </p:cNvPicPr>
          <p:nvPr/>
        </p:nvPicPr>
        <p:blipFill>
          <a:blip r:embed="rId3"/>
          <a:stretch>
            <a:fillRect/>
          </a:stretch>
        </p:blipFill>
        <p:spPr>
          <a:xfrm>
            <a:off x="2833931" y="2117984"/>
            <a:ext cx="5767808" cy="4506100"/>
          </a:xfrm>
          <a:prstGeom prst="rect">
            <a:avLst/>
          </a:prstGeom>
        </p:spPr>
      </p:pic>
    </p:spTree>
    <p:extLst>
      <p:ext uri="{BB962C8B-B14F-4D97-AF65-F5344CB8AC3E}">
        <p14:creationId xmlns:p14="http://schemas.microsoft.com/office/powerpoint/2010/main" val="30443584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C6F8F8-7ADB-EA37-D4CB-626002EAB87D}"/>
              </a:ext>
            </a:extLst>
          </p:cNvPr>
          <p:cNvSpPr>
            <a:spLocks noGrp="1"/>
          </p:cNvSpPr>
          <p:nvPr>
            <p:ph type="title"/>
          </p:nvPr>
        </p:nvSpPr>
        <p:spPr/>
        <p:txBody>
          <a:bodyPr>
            <a:normAutofit/>
          </a:bodyPr>
          <a:lstStyle/>
          <a:p>
            <a:r>
              <a:rPr lang="en-US" sz="4000" dirty="0">
                <a:latin typeface="Nunito Sans" pitchFamily="2" charset="0"/>
              </a:rPr>
              <a:t>Schema Definitions</a:t>
            </a:r>
            <a:endParaRPr lang="en-IN" sz="4000" dirty="0">
              <a:latin typeface="Nunito Sans" pitchFamily="2" charset="0"/>
            </a:endParaRPr>
          </a:p>
        </p:txBody>
      </p:sp>
      <p:sp>
        <p:nvSpPr>
          <p:cNvPr id="3" name="Content Placeholder 2">
            <a:extLst>
              <a:ext uri="{FF2B5EF4-FFF2-40B4-BE49-F238E27FC236}">
                <a16:creationId xmlns:a16="http://schemas.microsoft.com/office/drawing/2014/main" id="{BD39D8DD-C640-F7A9-6B57-1913A3CF4513}"/>
              </a:ext>
            </a:extLst>
          </p:cNvPr>
          <p:cNvSpPr>
            <a:spLocks noGrp="1"/>
          </p:cNvSpPr>
          <p:nvPr>
            <p:ph idx="1"/>
          </p:nvPr>
        </p:nvSpPr>
        <p:spPr>
          <a:xfrm>
            <a:off x="680322" y="2336873"/>
            <a:ext cx="4529632" cy="3599316"/>
          </a:xfrm>
        </p:spPr>
        <p:txBody>
          <a:bodyPr>
            <a:normAutofit/>
          </a:bodyPr>
          <a:lstStyle/>
          <a:p>
            <a:pPr marL="0" indent="0">
              <a:buNone/>
            </a:pPr>
            <a:r>
              <a:rPr lang="en-US" sz="1700" b="1" dirty="0">
                <a:solidFill>
                  <a:schemeClr val="bg1"/>
                </a:solidFill>
                <a:latin typeface="Nunito Sans" pitchFamily="2" charset="0"/>
              </a:rPr>
              <a:t>Schema Definition: </a:t>
            </a:r>
            <a:r>
              <a:rPr lang="en-US" sz="1700" dirty="0">
                <a:solidFill>
                  <a:schemeClr val="bg1"/>
                </a:solidFill>
                <a:latin typeface="Nunito Sans" pitchFamily="2" charset="0"/>
              </a:rPr>
              <a:t>According to SAML 2.0 schema, &lt;</a:t>
            </a:r>
            <a:r>
              <a:rPr lang="en-US" sz="1700" dirty="0" err="1">
                <a:solidFill>
                  <a:schemeClr val="bg1"/>
                </a:solidFill>
                <a:latin typeface="Nunito Sans" pitchFamily="2" charset="0"/>
              </a:rPr>
              <a:t>samlp:Response</a:t>
            </a:r>
            <a:r>
              <a:rPr lang="en-US" sz="1700" dirty="0">
                <a:solidFill>
                  <a:schemeClr val="bg1"/>
                </a:solidFill>
                <a:latin typeface="Nunito Sans" pitchFamily="2" charset="0"/>
              </a:rPr>
              <a:t>&gt; has this structure:&lt;</a:t>
            </a:r>
            <a:r>
              <a:rPr lang="en-US" sz="1700" dirty="0" err="1">
                <a:solidFill>
                  <a:schemeClr val="bg1"/>
                </a:solidFill>
                <a:latin typeface="Nunito Sans" pitchFamily="2" charset="0"/>
              </a:rPr>
              <a:t>samlp:Status</a:t>
            </a:r>
            <a:r>
              <a:rPr lang="en-US" sz="1700" dirty="0">
                <a:solidFill>
                  <a:schemeClr val="bg1"/>
                </a:solidFill>
                <a:latin typeface="Nunito Sans" pitchFamily="2" charset="0"/>
              </a:rPr>
              <a:t>&gt; (required)</a:t>
            </a:r>
          </a:p>
          <a:p>
            <a:pPr marL="0" indent="0">
              <a:buNone/>
            </a:pPr>
            <a:r>
              <a:rPr lang="en-IN" sz="1700" dirty="0">
                <a:solidFill>
                  <a:schemeClr val="bg1"/>
                </a:solidFill>
                <a:latin typeface="Nunito Sans" pitchFamily="2" charset="0"/>
              </a:rPr>
              <a:t>&lt;</a:t>
            </a:r>
            <a:r>
              <a:rPr lang="en-IN" sz="1700" dirty="0" err="1">
                <a:solidFill>
                  <a:schemeClr val="bg1"/>
                </a:solidFill>
                <a:latin typeface="Nunito Sans" pitchFamily="2" charset="0"/>
              </a:rPr>
              <a:t>samlp:Response</a:t>
            </a:r>
            <a:r>
              <a:rPr lang="en-IN" sz="1700" dirty="0">
                <a:solidFill>
                  <a:schemeClr val="bg1"/>
                </a:solidFill>
                <a:latin typeface="Nunito Sans" pitchFamily="2" charset="0"/>
              </a:rPr>
              <a:t>&gt;</a:t>
            </a:r>
          </a:p>
          <a:p>
            <a:pPr marL="0" indent="0">
              <a:buNone/>
            </a:pPr>
            <a:r>
              <a:rPr lang="en-IN" sz="1700" dirty="0">
                <a:solidFill>
                  <a:schemeClr val="bg1"/>
                </a:solidFill>
                <a:latin typeface="Nunito Sans" pitchFamily="2" charset="0"/>
              </a:rPr>
              <a:t>	&lt;</a:t>
            </a:r>
            <a:r>
              <a:rPr lang="en-IN" sz="1700" dirty="0" err="1">
                <a:solidFill>
                  <a:schemeClr val="bg1"/>
                </a:solidFill>
                <a:latin typeface="Nunito Sans" pitchFamily="2" charset="0"/>
              </a:rPr>
              <a:t>samlp:Status</a:t>
            </a:r>
            <a:r>
              <a:rPr lang="en-IN" sz="1700" dirty="0">
                <a:solidFill>
                  <a:schemeClr val="bg1"/>
                </a:solidFill>
                <a:latin typeface="Nunito Sans" pitchFamily="2" charset="0"/>
              </a:rPr>
              <a:t>&gt;</a:t>
            </a:r>
          </a:p>
          <a:p>
            <a:pPr marL="0" indent="0">
              <a:buNone/>
            </a:pPr>
            <a:r>
              <a:rPr lang="en-IN" sz="1700" dirty="0">
                <a:solidFill>
                  <a:schemeClr val="bg1"/>
                </a:solidFill>
                <a:latin typeface="Nunito Sans" pitchFamily="2" charset="0"/>
              </a:rPr>
              <a:t>	&lt;</a:t>
            </a:r>
            <a:r>
              <a:rPr lang="en-IN" sz="1700" dirty="0" err="1">
                <a:solidFill>
                  <a:schemeClr val="bg1"/>
                </a:solidFill>
                <a:latin typeface="Nunito Sans" pitchFamily="2" charset="0"/>
              </a:rPr>
              <a:t>saml:Issuer</a:t>
            </a:r>
            <a:r>
              <a:rPr lang="en-IN" sz="1700" dirty="0">
                <a:solidFill>
                  <a:schemeClr val="bg1"/>
                </a:solidFill>
                <a:latin typeface="Nunito Sans" pitchFamily="2" charset="0"/>
              </a:rPr>
              <a:t>&gt;</a:t>
            </a:r>
          </a:p>
          <a:p>
            <a:pPr marL="0" indent="0">
              <a:buNone/>
            </a:pPr>
            <a:r>
              <a:rPr lang="en-IN" sz="1700" dirty="0">
                <a:solidFill>
                  <a:schemeClr val="bg1"/>
                </a:solidFill>
                <a:latin typeface="Nunito Sans" pitchFamily="2" charset="0"/>
              </a:rPr>
              <a:t>	&lt;</a:t>
            </a:r>
            <a:r>
              <a:rPr lang="en-IN" sz="1700" dirty="0" err="1">
                <a:solidFill>
                  <a:schemeClr val="bg1"/>
                </a:solidFill>
                <a:latin typeface="Nunito Sans" pitchFamily="2" charset="0"/>
              </a:rPr>
              <a:t>ds:Signature</a:t>
            </a:r>
            <a:r>
              <a:rPr lang="en-IN" sz="1700" dirty="0">
                <a:solidFill>
                  <a:schemeClr val="bg1"/>
                </a:solidFill>
                <a:latin typeface="Nunito Sans" pitchFamily="2" charset="0"/>
              </a:rPr>
              <a:t>&gt;</a:t>
            </a:r>
          </a:p>
          <a:p>
            <a:pPr marL="0" indent="0">
              <a:buNone/>
            </a:pPr>
            <a:r>
              <a:rPr lang="en-IN" sz="1700" dirty="0">
                <a:solidFill>
                  <a:schemeClr val="bg1"/>
                </a:solidFill>
                <a:latin typeface="Nunito Sans" pitchFamily="2" charset="0"/>
              </a:rPr>
              <a:t>	&lt;</a:t>
            </a:r>
            <a:r>
              <a:rPr lang="en-IN" sz="1700" dirty="0" err="1">
                <a:solidFill>
                  <a:schemeClr val="bg1"/>
                </a:solidFill>
                <a:latin typeface="Nunito Sans" pitchFamily="2" charset="0"/>
              </a:rPr>
              <a:t>saml:Assertion</a:t>
            </a:r>
            <a:r>
              <a:rPr lang="en-IN" sz="1700" dirty="0">
                <a:solidFill>
                  <a:schemeClr val="bg1"/>
                </a:solidFill>
                <a:latin typeface="Nunito Sans" pitchFamily="2" charset="0"/>
              </a:rPr>
              <a:t>&gt;</a:t>
            </a:r>
          </a:p>
          <a:p>
            <a:pPr marL="0" indent="0">
              <a:buNone/>
            </a:pPr>
            <a:r>
              <a:rPr lang="en-IN" sz="1700" dirty="0">
                <a:solidFill>
                  <a:schemeClr val="bg1"/>
                </a:solidFill>
                <a:latin typeface="Nunito Sans" pitchFamily="2" charset="0"/>
              </a:rPr>
              <a:t>	&lt;</a:t>
            </a:r>
            <a:r>
              <a:rPr lang="en-IN" sz="1700" dirty="0" err="1">
                <a:solidFill>
                  <a:schemeClr val="bg1"/>
                </a:solidFill>
                <a:latin typeface="Nunito Sans" pitchFamily="2" charset="0"/>
              </a:rPr>
              <a:t>samlp:EncryptedAssertion</a:t>
            </a:r>
            <a:r>
              <a:rPr lang="en-IN" sz="1700" dirty="0">
                <a:solidFill>
                  <a:schemeClr val="bg1"/>
                </a:solidFill>
                <a:latin typeface="Nunito Sans" pitchFamily="2" charset="0"/>
              </a:rPr>
              <a:t>&gt;</a:t>
            </a:r>
          </a:p>
          <a:p>
            <a:pPr marL="0" indent="0">
              <a:buNone/>
            </a:pPr>
            <a:r>
              <a:rPr lang="en-IN" sz="1700" dirty="0">
                <a:solidFill>
                  <a:schemeClr val="bg1"/>
                </a:solidFill>
                <a:latin typeface="Nunito Sans" pitchFamily="2" charset="0"/>
              </a:rPr>
              <a:t>&lt;/</a:t>
            </a:r>
            <a:r>
              <a:rPr lang="en-IN" sz="1700" dirty="0" err="1">
                <a:solidFill>
                  <a:schemeClr val="bg1"/>
                </a:solidFill>
                <a:latin typeface="Nunito Sans" pitchFamily="2" charset="0"/>
              </a:rPr>
              <a:t>samlp:Response</a:t>
            </a:r>
            <a:r>
              <a:rPr lang="en-IN" sz="1700" dirty="0">
                <a:solidFill>
                  <a:schemeClr val="bg1"/>
                </a:solidFill>
                <a:latin typeface="Nunito Sans" pitchFamily="2" charset="0"/>
              </a:rPr>
              <a:t>&gt;</a:t>
            </a:r>
          </a:p>
        </p:txBody>
      </p:sp>
      <p:pic>
        <p:nvPicPr>
          <p:cNvPr id="4" name="Content Placeholder 3">
            <a:extLst>
              <a:ext uri="{FF2B5EF4-FFF2-40B4-BE49-F238E27FC236}">
                <a16:creationId xmlns:a16="http://schemas.microsoft.com/office/drawing/2014/main" id="{6CCFD1E5-CD94-D16D-958B-8479557B6640}"/>
              </a:ext>
            </a:extLst>
          </p:cNvPr>
          <p:cNvPicPr>
            <a:picLocks noChangeAspect="1"/>
          </p:cNvPicPr>
          <p:nvPr/>
        </p:nvPicPr>
        <p:blipFill>
          <a:blip r:embed="rId2"/>
          <a:stretch>
            <a:fillRect/>
          </a:stretch>
        </p:blipFill>
        <p:spPr>
          <a:xfrm>
            <a:off x="5572311" y="2085923"/>
            <a:ext cx="5517447" cy="4597873"/>
          </a:xfrm>
          <a:prstGeom prst="rect">
            <a:avLst/>
          </a:prstGeom>
          <a:ln w="28575">
            <a:solidFill>
              <a:schemeClr val="bg1"/>
            </a:solidFill>
          </a:ln>
        </p:spPr>
      </p:pic>
    </p:spTree>
    <p:extLst>
      <p:ext uri="{BB962C8B-B14F-4D97-AF65-F5344CB8AC3E}">
        <p14:creationId xmlns:p14="http://schemas.microsoft.com/office/powerpoint/2010/main" val="377253821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740935-D313-28D4-9C6B-E389D59302AB}"/>
              </a:ext>
            </a:extLst>
          </p:cNvPr>
          <p:cNvSpPr>
            <a:spLocks noGrp="1"/>
          </p:cNvSpPr>
          <p:nvPr>
            <p:ph type="title"/>
          </p:nvPr>
        </p:nvSpPr>
        <p:spPr/>
        <p:txBody>
          <a:bodyPr/>
          <a:lstStyle/>
          <a:p>
            <a:r>
              <a:rPr lang="en-US" dirty="0"/>
              <a:t>Testcases</a:t>
            </a:r>
            <a:endParaRPr lang="en-IN" dirty="0"/>
          </a:p>
        </p:txBody>
      </p:sp>
      <p:sp>
        <p:nvSpPr>
          <p:cNvPr id="3" name="Content Placeholder 2">
            <a:extLst>
              <a:ext uri="{FF2B5EF4-FFF2-40B4-BE49-F238E27FC236}">
                <a16:creationId xmlns:a16="http://schemas.microsoft.com/office/drawing/2014/main" id="{AE7426DC-7615-8039-7005-01F9D2BA2C1B}"/>
              </a:ext>
            </a:extLst>
          </p:cNvPr>
          <p:cNvSpPr>
            <a:spLocks noGrp="1"/>
          </p:cNvSpPr>
          <p:nvPr>
            <p:ph idx="1"/>
          </p:nvPr>
        </p:nvSpPr>
        <p:spPr/>
        <p:txBody>
          <a:bodyPr/>
          <a:lstStyle/>
          <a:p>
            <a:r>
              <a:rPr lang="en-US" sz="1700" dirty="0">
                <a:solidFill>
                  <a:schemeClr val="bg1"/>
                </a:solidFill>
                <a:latin typeface="Nunito Sans" pitchFamily="2" charset="0"/>
              </a:rPr>
              <a:t>Signature Stripping</a:t>
            </a:r>
          </a:p>
          <a:p>
            <a:r>
              <a:rPr lang="en-US" sz="1700" dirty="0">
                <a:solidFill>
                  <a:schemeClr val="bg1"/>
                </a:solidFill>
                <a:latin typeface="Nunito Sans" pitchFamily="2" charset="0"/>
              </a:rPr>
              <a:t>XML Signature Wrapping (XSW) attack (1 to 8)</a:t>
            </a:r>
          </a:p>
          <a:p>
            <a:r>
              <a:rPr lang="en-US" sz="1700" dirty="0">
                <a:solidFill>
                  <a:schemeClr val="bg1"/>
                </a:solidFill>
                <a:latin typeface="Nunito Sans" pitchFamily="2" charset="0"/>
              </a:rPr>
              <a:t>ACS Spoofing</a:t>
            </a:r>
          </a:p>
          <a:p>
            <a:r>
              <a:rPr lang="en-US" sz="1700" dirty="0">
                <a:solidFill>
                  <a:schemeClr val="bg1"/>
                </a:solidFill>
                <a:latin typeface="Nunito Sans" pitchFamily="2" charset="0"/>
              </a:rPr>
              <a:t>Gold SAML attack</a:t>
            </a:r>
          </a:p>
          <a:p>
            <a:r>
              <a:rPr lang="en-US" sz="1700" dirty="0">
                <a:solidFill>
                  <a:schemeClr val="bg1"/>
                </a:solidFill>
                <a:latin typeface="Nunito Sans" pitchFamily="2" charset="0"/>
              </a:rPr>
              <a:t>Comment Injection </a:t>
            </a:r>
          </a:p>
          <a:p>
            <a:r>
              <a:rPr lang="en-US" sz="1700" dirty="0">
                <a:solidFill>
                  <a:schemeClr val="bg1"/>
                </a:solidFill>
                <a:latin typeface="Nunito Sans" pitchFamily="2" charset="0"/>
              </a:rPr>
              <a:t>Cross-Tenant SAML Token Attack </a:t>
            </a:r>
          </a:p>
          <a:p>
            <a:r>
              <a:rPr lang="en-US" sz="1700" dirty="0">
                <a:solidFill>
                  <a:schemeClr val="bg1"/>
                </a:solidFill>
                <a:latin typeface="Nunito Sans" pitchFamily="2" charset="0"/>
              </a:rPr>
              <a:t>Malicious IDP</a:t>
            </a:r>
          </a:p>
          <a:p>
            <a:endParaRPr lang="en-IN" dirty="0"/>
          </a:p>
        </p:txBody>
      </p:sp>
    </p:spTree>
    <p:extLst>
      <p:ext uri="{BB962C8B-B14F-4D97-AF65-F5344CB8AC3E}">
        <p14:creationId xmlns:p14="http://schemas.microsoft.com/office/powerpoint/2010/main" val="10161403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6D4BD4-21EF-65BF-E942-1C60659F6D8E}"/>
              </a:ext>
            </a:extLst>
          </p:cNvPr>
          <p:cNvSpPr>
            <a:spLocks noGrp="1"/>
          </p:cNvSpPr>
          <p:nvPr>
            <p:ph type="title"/>
          </p:nvPr>
        </p:nvSpPr>
        <p:spPr/>
        <p:txBody>
          <a:bodyPr/>
          <a:lstStyle/>
          <a:p>
            <a:r>
              <a:rPr lang="en-US" dirty="0"/>
              <a:t>XML Signature Wrapping (XSW) attack </a:t>
            </a:r>
            <a:endParaRPr lang="en-IN" dirty="0"/>
          </a:p>
        </p:txBody>
      </p:sp>
      <p:sp>
        <p:nvSpPr>
          <p:cNvPr id="3" name="Content Placeholder 2">
            <a:extLst>
              <a:ext uri="{FF2B5EF4-FFF2-40B4-BE49-F238E27FC236}">
                <a16:creationId xmlns:a16="http://schemas.microsoft.com/office/drawing/2014/main" id="{448A4E42-7EFE-E7D1-791B-00F61D11ACEC}"/>
              </a:ext>
            </a:extLst>
          </p:cNvPr>
          <p:cNvSpPr>
            <a:spLocks noGrp="1"/>
          </p:cNvSpPr>
          <p:nvPr>
            <p:ph idx="1"/>
          </p:nvPr>
        </p:nvSpPr>
        <p:spPr/>
        <p:txBody>
          <a:bodyPr/>
          <a:lstStyle/>
          <a:p>
            <a:r>
              <a:rPr lang="en-US" sz="1700" dirty="0">
                <a:solidFill>
                  <a:schemeClr val="bg1"/>
                </a:solidFill>
                <a:latin typeface="Nunito Sans" pitchFamily="2" charset="0"/>
              </a:rPr>
              <a:t>XSW attacks exploit XML signature validation by manipulating the document structure so the signature remains valid while the processed content is changed. </a:t>
            </a:r>
          </a:p>
          <a:p>
            <a:r>
              <a:rPr lang="en-US" sz="1700" dirty="0">
                <a:solidFill>
                  <a:schemeClr val="bg1"/>
                </a:solidFill>
                <a:latin typeface="Nunito Sans" pitchFamily="2" charset="0"/>
              </a:rPr>
              <a:t>XSW attacks are like forgeries slipped into an XML envelope. </a:t>
            </a:r>
          </a:p>
          <a:p>
            <a:r>
              <a:rPr lang="en-US" sz="1700" dirty="0">
                <a:solidFill>
                  <a:schemeClr val="bg1"/>
                </a:solidFill>
                <a:latin typeface="Nunito Sans" pitchFamily="2" charset="0"/>
              </a:rPr>
              <a:t>The signature is valid, the document is altered, and the application reads the attacker’s version. </a:t>
            </a:r>
          </a:p>
          <a:p>
            <a:r>
              <a:rPr lang="en-US" sz="1700" dirty="0">
                <a:solidFill>
                  <a:schemeClr val="bg1"/>
                </a:solidFill>
                <a:latin typeface="Nunito Sans" pitchFamily="2" charset="0"/>
              </a:rPr>
              <a:t>For e.g. Same seal, different letter. </a:t>
            </a:r>
          </a:p>
          <a:p>
            <a:endParaRPr lang="en-IN" b="1" dirty="0"/>
          </a:p>
        </p:txBody>
      </p:sp>
    </p:spTree>
    <p:extLst>
      <p:ext uri="{BB962C8B-B14F-4D97-AF65-F5344CB8AC3E}">
        <p14:creationId xmlns:p14="http://schemas.microsoft.com/office/powerpoint/2010/main" val="22238117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C59E59-94C3-4E9E-6235-37407E462639}"/>
              </a:ext>
            </a:extLst>
          </p:cNvPr>
          <p:cNvSpPr>
            <a:spLocks noGrp="1"/>
          </p:cNvSpPr>
          <p:nvPr>
            <p:ph type="title"/>
          </p:nvPr>
        </p:nvSpPr>
        <p:spPr/>
        <p:txBody>
          <a:bodyPr/>
          <a:lstStyle/>
          <a:p>
            <a:r>
              <a:rPr lang="en-US" dirty="0"/>
              <a:t>XSW1 Attack</a:t>
            </a:r>
            <a:endParaRPr lang="en-IN" dirty="0"/>
          </a:p>
        </p:txBody>
      </p:sp>
      <p:pic>
        <p:nvPicPr>
          <p:cNvPr id="5" name="Content Placeholder 4">
            <a:extLst>
              <a:ext uri="{FF2B5EF4-FFF2-40B4-BE49-F238E27FC236}">
                <a16:creationId xmlns:a16="http://schemas.microsoft.com/office/drawing/2014/main" id="{E06A8851-6EB8-453F-1364-923ADBD04A74}"/>
              </a:ext>
            </a:extLst>
          </p:cNvPr>
          <p:cNvPicPr>
            <a:picLocks noGrp="1" noChangeAspect="1"/>
          </p:cNvPicPr>
          <p:nvPr>
            <p:ph idx="1"/>
          </p:nvPr>
        </p:nvPicPr>
        <p:blipFill>
          <a:blip r:embed="rId3"/>
          <a:stretch>
            <a:fillRect/>
          </a:stretch>
        </p:blipFill>
        <p:spPr>
          <a:xfrm>
            <a:off x="515201" y="2308849"/>
            <a:ext cx="4972050" cy="3076575"/>
          </a:xfrm>
          <a:prstGeom prst="rect">
            <a:avLst/>
          </a:prstGeom>
        </p:spPr>
      </p:pic>
      <p:sp>
        <p:nvSpPr>
          <p:cNvPr id="7" name="TextBox 6">
            <a:extLst>
              <a:ext uri="{FF2B5EF4-FFF2-40B4-BE49-F238E27FC236}">
                <a16:creationId xmlns:a16="http://schemas.microsoft.com/office/drawing/2014/main" id="{D33B7A6F-A2B4-5217-0D2D-1C9770E065A2}"/>
              </a:ext>
            </a:extLst>
          </p:cNvPr>
          <p:cNvSpPr txBox="1"/>
          <p:nvPr/>
        </p:nvSpPr>
        <p:spPr>
          <a:xfrm>
            <a:off x="515201" y="1985684"/>
            <a:ext cx="5393365" cy="323165"/>
          </a:xfrm>
          <a:prstGeom prst="rect">
            <a:avLst/>
          </a:prstGeom>
          <a:noFill/>
        </p:spPr>
        <p:txBody>
          <a:bodyPr wrap="square">
            <a:spAutoFit/>
          </a:bodyPr>
          <a:lstStyle/>
          <a:p>
            <a:r>
              <a:rPr lang="en-US" sz="1500" dirty="0">
                <a:solidFill>
                  <a:schemeClr val="bg1"/>
                </a:solidFill>
                <a:latin typeface="Nunito Sans" pitchFamily="2" charset="0"/>
              </a:rPr>
              <a:t>What </a:t>
            </a:r>
            <a:r>
              <a:rPr lang="en-US" sz="1500" i="1" dirty="0">
                <a:solidFill>
                  <a:schemeClr val="bg1"/>
                </a:solidFill>
                <a:latin typeface="Nunito Sans" pitchFamily="2" charset="0"/>
              </a:rPr>
              <a:t>originally</a:t>
            </a:r>
            <a:r>
              <a:rPr lang="en-US" sz="1500" dirty="0">
                <a:solidFill>
                  <a:schemeClr val="bg1"/>
                </a:solidFill>
                <a:latin typeface="Nunito Sans" pitchFamily="2" charset="0"/>
              </a:rPr>
              <a:t> exists in a normal SAML Response</a:t>
            </a:r>
            <a:endParaRPr lang="en-IN" sz="1500" dirty="0">
              <a:solidFill>
                <a:schemeClr val="bg1"/>
              </a:solidFill>
              <a:latin typeface="Nunito Sans" pitchFamily="2" charset="0"/>
            </a:endParaRPr>
          </a:p>
        </p:txBody>
      </p:sp>
      <p:pic>
        <p:nvPicPr>
          <p:cNvPr id="9" name="Picture 8">
            <a:extLst>
              <a:ext uri="{FF2B5EF4-FFF2-40B4-BE49-F238E27FC236}">
                <a16:creationId xmlns:a16="http://schemas.microsoft.com/office/drawing/2014/main" id="{03E620E9-EDFE-826A-8DAB-BF6D77D038B1}"/>
              </a:ext>
            </a:extLst>
          </p:cNvPr>
          <p:cNvPicPr>
            <a:picLocks noChangeAspect="1"/>
          </p:cNvPicPr>
          <p:nvPr/>
        </p:nvPicPr>
        <p:blipFill>
          <a:blip r:embed="rId4"/>
          <a:stretch>
            <a:fillRect/>
          </a:stretch>
        </p:blipFill>
        <p:spPr>
          <a:xfrm>
            <a:off x="6040753" y="2282523"/>
            <a:ext cx="4253429" cy="4528564"/>
          </a:xfrm>
          <a:prstGeom prst="rect">
            <a:avLst/>
          </a:prstGeom>
        </p:spPr>
      </p:pic>
      <p:sp>
        <p:nvSpPr>
          <p:cNvPr id="17" name="TextBox 16">
            <a:extLst>
              <a:ext uri="{FF2B5EF4-FFF2-40B4-BE49-F238E27FC236}">
                <a16:creationId xmlns:a16="http://schemas.microsoft.com/office/drawing/2014/main" id="{F859D27A-9CD6-3B36-22C5-B73506A6B774}"/>
              </a:ext>
            </a:extLst>
          </p:cNvPr>
          <p:cNvSpPr txBox="1"/>
          <p:nvPr/>
        </p:nvSpPr>
        <p:spPr>
          <a:xfrm>
            <a:off x="6040753" y="1959358"/>
            <a:ext cx="6097772" cy="323165"/>
          </a:xfrm>
          <a:prstGeom prst="rect">
            <a:avLst/>
          </a:prstGeom>
          <a:noFill/>
        </p:spPr>
        <p:txBody>
          <a:bodyPr wrap="square">
            <a:spAutoFit/>
          </a:bodyPr>
          <a:lstStyle/>
          <a:p>
            <a:r>
              <a:rPr lang="en-US" sz="1500" dirty="0">
                <a:solidFill>
                  <a:schemeClr val="bg1"/>
                </a:solidFill>
                <a:latin typeface="Nunito Sans" pitchFamily="2" charset="0"/>
              </a:rPr>
              <a:t>After attack, structure looks like this</a:t>
            </a:r>
            <a:endParaRPr lang="en-IN" sz="1500" dirty="0">
              <a:solidFill>
                <a:schemeClr val="bg1"/>
              </a:solidFill>
              <a:latin typeface="Nunito Sans" pitchFamily="2" charset="0"/>
            </a:endParaRPr>
          </a:p>
        </p:txBody>
      </p:sp>
    </p:spTree>
    <p:extLst>
      <p:ext uri="{BB962C8B-B14F-4D97-AF65-F5344CB8AC3E}">
        <p14:creationId xmlns:p14="http://schemas.microsoft.com/office/powerpoint/2010/main" val="27891176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BF6E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6ACA5A-8175-316B-2F7C-D22DA9088387}"/>
              </a:ext>
            </a:extLst>
          </p:cNvPr>
          <p:cNvSpPr>
            <a:spLocks noGrp="1"/>
          </p:cNvSpPr>
          <p:nvPr>
            <p:ph type="title"/>
          </p:nvPr>
        </p:nvSpPr>
        <p:spPr/>
        <p:txBody>
          <a:bodyPr/>
          <a:lstStyle/>
          <a:p>
            <a:endParaRPr lang="en-IN" dirty="0"/>
          </a:p>
        </p:txBody>
      </p:sp>
      <p:graphicFrame>
        <p:nvGraphicFramePr>
          <p:cNvPr id="5" name="Table 4">
            <a:extLst>
              <a:ext uri="{FF2B5EF4-FFF2-40B4-BE49-F238E27FC236}">
                <a16:creationId xmlns:a16="http://schemas.microsoft.com/office/drawing/2014/main" id="{279FD0EB-9BEF-567B-1503-85E1D1B1255E}"/>
              </a:ext>
            </a:extLst>
          </p:cNvPr>
          <p:cNvGraphicFramePr>
            <a:graphicFrameLocks noGrp="1"/>
          </p:cNvGraphicFramePr>
          <p:nvPr>
            <p:extLst>
              <p:ext uri="{D42A27DB-BD31-4B8C-83A1-F6EECF244321}">
                <p14:modId xmlns:p14="http://schemas.microsoft.com/office/powerpoint/2010/main" val="264721816"/>
              </p:ext>
            </p:extLst>
          </p:nvPr>
        </p:nvGraphicFramePr>
        <p:xfrm>
          <a:off x="1644502" y="2216556"/>
          <a:ext cx="8360736" cy="3888216"/>
        </p:xfrm>
        <a:graphic>
          <a:graphicData uri="http://schemas.openxmlformats.org/drawingml/2006/table">
            <a:tbl>
              <a:tblPr firstRow="1" bandRow="1">
                <a:tableStyleId>{5C22544A-7EE6-4342-B048-85BDC9FD1C3A}</a:tableStyleId>
              </a:tblPr>
              <a:tblGrid>
                <a:gridCol w="1513368">
                  <a:extLst>
                    <a:ext uri="{9D8B030D-6E8A-4147-A177-3AD203B41FA5}">
                      <a16:colId xmlns:a16="http://schemas.microsoft.com/office/drawing/2014/main" val="1166670373"/>
                    </a:ext>
                  </a:extLst>
                </a:gridCol>
                <a:gridCol w="3444949">
                  <a:extLst>
                    <a:ext uri="{9D8B030D-6E8A-4147-A177-3AD203B41FA5}">
                      <a16:colId xmlns:a16="http://schemas.microsoft.com/office/drawing/2014/main" val="1235613105"/>
                    </a:ext>
                  </a:extLst>
                </a:gridCol>
                <a:gridCol w="3402419">
                  <a:extLst>
                    <a:ext uri="{9D8B030D-6E8A-4147-A177-3AD203B41FA5}">
                      <a16:colId xmlns:a16="http://schemas.microsoft.com/office/drawing/2014/main" val="4004417486"/>
                    </a:ext>
                  </a:extLst>
                </a:gridCol>
              </a:tblGrid>
              <a:tr h="432539">
                <a:tc>
                  <a:txBody>
                    <a:bodyPr/>
                    <a:lstStyle/>
                    <a:p>
                      <a:pPr marL="0" algn="l" defTabSz="914400" rtl="0" eaLnBrk="1" fontAlgn="b" latinLnBrk="0" hangingPunct="1">
                        <a:buNone/>
                      </a:pPr>
                      <a:r>
                        <a:rPr lang="en-IN" sz="1500" b="1" kern="1200" dirty="0">
                          <a:solidFill>
                            <a:schemeClr val="tx1"/>
                          </a:solidFill>
                          <a:effectLst/>
                          <a:latin typeface="Nunito Sans" pitchFamily="2" charset="0"/>
                          <a:ea typeface="+mn-ea"/>
                          <a:cs typeface="+mn-cs"/>
                        </a:rPr>
                        <a:t>XSW Type</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marL="0" algn="l" defTabSz="914400" rtl="0" eaLnBrk="1" fontAlgn="b" latinLnBrk="0" hangingPunct="1">
                        <a:buNone/>
                      </a:pPr>
                      <a:r>
                        <a:rPr lang="en-IN" sz="1500" b="1" kern="1200" dirty="0">
                          <a:solidFill>
                            <a:schemeClr val="tx1"/>
                          </a:solidFill>
                          <a:effectLst/>
                          <a:latin typeface="Nunito Sans" pitchFamily="2" charset="0"/>
                          <a:ea typeface="+mn-ea"/>
                          <a:cs typeface="+mn-cs"/>
                        </a:rPr>
                        <a:t>Main Trick Used</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marL="0" algn="l" defTabSz="914400" rtl="0" eaLnBrk="1" fontAlgn="b" latinLnBrk="0" hangingPunct="1">
                        <a:buNone/>
                      </a:pPr>
                      <a:r>
                        <a:rPr lang="en-IN" sz="1500" b="1" kern="1200" dirty="0">
                          <a:solidFill>
                            <a:schemeClr val="tx1"/>
                          </a:solidFill>
                          <a:effectLst/>
                          <a:latin typeface="Nunito Sans" pitchFamily="2" charset="0"/>
                          <a:ea typeface="+mn-ea"/>
                          <a:cs typeface="+mn-cs"/>
                        </a:rPr>
                        <a:t>Key Weakness</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6908415"/>
                  </a:ext>
                </a:extLst>
              </a:tr>
              <a:tr h="432539">
                <a:tc>
                  <a:txBody>
                    <a:bodyPr/>
                    <a:lstStyle/>
                    <a:p>
                      <a:pPr marL="0" algn="l" defTabSz="914400" rtl="0" eaLnBrk="1" fontAlgn="b" latinLnBrk="0" hangingPunct="1">
                        <a:buNone/>
                      </a:pPr>
                      <a:r>
                        <a:rPr lang="en-IN" sz="1500" b="0" kern="1200" dirty="0">
                          <a:solidFill>
                            <a:schemeClr val="bg1"/>
                          </a:solidFill>
                          <a:effectLst/>
                          <a:latin typeface="Nunito Sans" pitchFamily="2" charset="0"/>
                          <a:ea typeface="+mn-ea"/>
                          <a:cs typeface="+mn-cs"/>
                        </a:rPr>
                        <a:t>XSW-1</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marL="0" algn="l" defTabSz="914400" rtl="0" eaLnBrk="1" fontAlgn="b" latinLnBrk="0" hangingPunct="1">
                        <a:buNone/>
                      </a:pPr>
                      <a:r>
                        <a:rPr lang="en-IN" sz="1500" b="0" kern="1200" dirty="0">
                          <a:solidFill>
                            <a:schemeClr val="bg1"/>
                          </a:solidFill>
                          <a:effectLst/>
                          <a:latin typeface="Nunito Sans" pitchFamily="2" charset="0"/>
                          <a:ea typeface="+mn-ea"/>
                          <a:cs typeface="+mn-cs"/>
                        </a:rPr>
                        <a:t>Element wrapping</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marL="0" algn="l" defTabSz="914400" rtl="0" eaLnBrk="1" fontAlgn="b" latinLnBrk="0" hangingPunct="1">
                        <a:buNone/>
                      </a:pPr>
                      <a:r>
                        <a:rPr lang="en-IN" sz="1500" b="0" kern="1200" dirty="0">
                          <a:solidFill>
                            <a:schemeClr val="bg1"/>
                          </a:solidFill>
                          <a:effectLst/>
                          <a:latin typeface="Nunito Sans" pitchFamily="2" charset="0"/>
                          <a:ea typeface="+mn-ea"/>
                          <a:cs typeface="+mn-cs"/>
                        </a:rPr>
                        <a:t>Wrong node selection</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77671451"/>
                  </a:ext>
                </a:extLst>
              </a:tr>
              <a:tr h="432539">
                <a:tc>
                  <a:txBody>
                    <a:bodyPr/>
                    <a:lstStyle/>
                    <a:p>
                      <a:pPr marL="0" algn="l" defTabSz="914400" rtl="0" eaLnBrk="1" fontAlgn="b" latinLnBrk="0" hangingPunct="1">
                        <a:buNone/>
                      </a:pPr>
                      <a:r>
                        <a:rPr lang="en-IN" sz="1500" b="0" kern="1200" dirty="0">
                          <a:solidFill>
                            <a:schemeClr val="bg1"/>
                          </a:solidFill>
                          <a:effectLst/>
                          <a:latin typeface="Nunito Sans" pitchFamily="2" charset="0"/>
                          <a:ea typeface="+mn-ea"/>
                          <a:cs typeface="+mn-cs"/>
                        </a:rPr>
                        <a:t>XSW-2</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marL="0" algn="l" defTabSz="914400" rtl="0" eaLnBrk="1" fontAlgn="b" latinLnBrk="0" hangingPunct="1">
                        <a:buNone/>
                      </a:pPr>
                      <a:r>
                        <a:rPr lang="en-IN" sz="1500" b="0" kern="1200" dirty="0">
                          <a:solidFill>
                            <a:schemeClr val="bg1"/>
                          </a:solidFill>
                          <a:effectLst/>
                          <a:latin typeface="Nunito Sans" pitchFamily="2" charset="0"/>
                          <a:ea typeface="+mn-ea"/>
                          <a:cs typeface="+mn-cs"/>
                        </a:rPr>
                        <a:t>&lt;</a:t>
                      </a:r>
                      <a:r>
                        <a:rPr lang="en-IN" sz="1500" b="0" kern="1200" dirty="0" err="1">
                          <a:solidFill>
                            <a:schemeClr val="bg1"/>
                          </a:solidFill>
                          <a:effectLst/>
                          <a:latin typeface="Nunito Sans" pitchFamily="2" charset="0"/>
                          <a:ea typeface="+mn-ea"/>
                          <a:cs typeface="+mn-cs"/>
                        </a:rPr>
                        <a:t>ds:Object</a:t>
                      </a:r>
                      <a:r>
                        <a:rPr lang="en-IN" sz="1500" b="0" kern="1200" dirty="0">
                          <a:solidFill>
                            <a:schemeClr val="bg1"/>
                          </a:solidFill>
                          <a:effectLst/>
                          <a:latin typeface="Nunito Sans" pitchFamily="2" charset="0"/>
                          <a:ea typeface="+mn-ea"/>
                          <a:cs typeface="+mn-cs"/>
                        </a:rPr>
                        <a:t>&gt; abuse</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marL="0" algn="l" defTabSz="914400" rtl="0" eaLnBrk="1" fontAlgn="b" latinLnBrk="0" hangingPunct="1">
                        <a:buNone/>
                      </a:pPr>
                      <a:r>
                        <a:rPr lang="en-IN" sz="1500" b="0" kern="1200" dirty="0">
                          <a:solidFill>
                            <a:schemeClr val="bg1"/>
                          </a:solidFill>
                          <a:effectLst/>
                          <a:latin typeface="Nunito Sans" pitchFamily="2" charset="0"/>
                          <a:ea typeface="+mn-ea"/>
                          <a:cs typeface="+mn-cs"/>
                        </a:rPr>
                        <a:t>Signature object misuse</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39044845"/>
                  </a:ext>
                </a:extLst>
              </a:tr>
              <a:tr h="432539">
                <a:tc>
                  <a:txBody>
                    <a:bodyPr/>
                    <a:lstStyle/>
                    <a:p>
                      <a:pPr marL="0" algn="l" defTabSz="914400" rtl="0" eaLnBrk="1" fontAlgn="b" latinLnBrk="0" hangingPunct="1">
                        <a:buNone/>
                      </a:pPr>
                      <a:r>
                        <a:rPr lang="en-IN" sz="1500" b="0" kern="1200" dirty="0">
                          <a:solidFill>
                            <a:schemeClr val="bg1"/>
                          </a:solidFill>
                          <a:effectLst/>
                          <a:latin typeface="Nunito Sans" pitchFamily="2" charset="0"/>
                          <a:ea typeface="+mn-ea"/>
                          <a:cs typeface="+mn-cs"/>
                        </a:rPr>
                        <a:t>XSW-3</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marL="0" algn="l" defTabSz="914400" rtl="0" eaLnBrk="1" fontAlgn="b" latinLnBrk="0" hangingPunct="1">
                        <a:buNone/>
                      </a:pPr>
                      <a:r>
                        <a:rPr lang="en-IN" sz="1500" b="0" kern="1200" dirty="0">
                          <a:solidFill>
                            <a:schemeClr val="bg1"/>
                          </a:solidFill>
                          <a:effectLst/>
                          <a:latin typeface="Nunito Sans" pitchFamily="2" charset="0"/>
                          <a:ea typeface="+mn-ea"/>
                          <a:cs typeface="+mn-cs"/>
                        </a:rPr>
                        <a:t>Duplicate assertion</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marL="0" algn="l" defTabSz="914400" rtl="0" eaLnBrk="1" fontAlgn="b" latinLnBrk="0" hangingPunct="1">
                        <a:buNone/>
                      </a:pPr>
                      <a:r>
                        <a:rPr lang="en-IN" sz="1500" b="0" kern="1200" dirty="0">
                          <a:solidFill>
                            <a:schemeClr val="bg1"/>
                          </a:solidFill>
                          <a:effectLst/>
                          <a:latin typeface="Nunito Sans" pitchFamily="2" charset="0"/>
                          <a:ea typeface="+mn-ea"/>
                          <a:cs typeface="+mn-cs"/>
                        </a:rPr>
                        <a:t>First/last match logic</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89984989"/>
                  </a:ext>
                </a:extLst>
              </a:tr>
              <a:tr h="427904">
                <a:tc>
                  <a:txBody>
                    <a:bodyPr/>
                    <a:lstStyle/>
                    <a:p>
                      <a:pPr marL="0" algn="l" defTabSz="914400" rtl="0" eaLnBrk="1" fontAlgn="b" latinLnBrk="0" hangingPunct="1">
                        <a:buNone/>
                      </a:pPr>
                      <a:r>
                        <a:rPr lang="en-IN" sz="1500" b="0" kern="1200" dirty="0">
                          <a:solidFill>
                            <a:schemeClr val="bg1"/>
                          </a:solidFill>
                          <a:effectLst/>
                          <a:latin typeface="Nunito Sans" pitchFamily="2" charset="0"/>
                          <a:ea typeface="+mn-ea"/>
                          <a:cs typeface="+mn-cs"/>
                        </a:rPr>
                        <a:t>XSW-4</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marL="0" algn="l" defTabSz="914400" rtl="0" eaLnBrk="1" fontAlgn="b" latinLnBrk="0" hangingPunct="1">
                        <a:buNone/>
                      </a:pPr>
                      <a:r>
                        <a:rPr lang="en-IN" sz="1500" b="0" kern="1200" dirty="0">
                          <a:solidFill>
                            <a:schemeClr val="bg1"/>
                          </a:solidFill>
                          <a:effectLst/>
                          <a:latin typeface="Nunito Sans" pitchFamily="2" charset="0"/>
                          <a:ea typeface="+mn-ea"/>
                          <a:cs typeface="+mn-cs"/>
                        </a:rPr>
                        <a:t>Reference manipulation</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marL="0" algn="l" defTabSz="914400" rtl="0" eaLnBrk="1" fontAlgn="b" latinLnBrk="0" hangingPunct="1">
                        <a:buNone/>
                      </a:pPr>
                      <a:r>
                        <a:rPr lang="en-IN" sz="1500" b="0" kern="1200" dirty="0">
                          <a:solidFill>
                            <a:schemeClr val="bg1"/>
                          </a:solidFill>
                          <a:effectLst/>
                          <a:latin typeface="Nunito Sans" pitchFamily="2" charset="0"/>
                          <a:ea typeface="+mn-ea"/>
                          <a:cs typeface="+mn-cs"/>
                        </a:rPr>
                        <a:t>URI resolution</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827889801"/>
                  </a:ext>
                </a:extLst>
              </a:tr>
              <a:tr h="432539">
                <a:tc>
                  <a:txBody>
                    <a:bodyPr/>
                    <a:lstStyle/>
                    <a:p>
                      <a:pPr marL="0" algn="l" defTabSz="914400" rtl="0" eaLnBrk="1" fontAlgn="b" latinLnBrk="0" hangingPunct="1">
                        <a:buNone/>
                      </a:pPr>
                      <a:r>
                        <a:rPr lang="en-IN" sz="1500" b="0" kern="1200" dirty="0">
                          <a:solidFill>
                            <a:schemeClr val="bg1"/>
                          </a:solidFill>
                          <a:effectLst/>
                          <a:latin typeface="Nunito Sans" pitchFamily="2" charset="0"/>
                          <a:ea typeface="+mn-ea"/>
                          <a:cs typeface="+mn-cs"/>
                        </a:rPr>
                        <a:t>XSW-5</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marL="0" algn="l" defTabSz="914400" rtl="0" eaLnBrk="1" fontAlgn="b" latinLnBrk="0" hangingPunct="1">
                        <a:buNone/>
                      </a:pPr>
                      <a:r>
                        <a:rPr lang="en-IN" sz="1500" b="0" kern="1200" dirty="0">
                          <a:solidFill>
                            <a:schemeClr val="bg1"/>
                          </a:solidFill>
                          <a:effectLst/>
                          <a:latin typeface="Nunito Sans" pitchFamily="2" charset="0"/>
                          <a:ea typeface="+mn-ea"/>
                          <a:cs typeface="+mn-cs"/>
                        </a:rPr>
                        <a:t>Multiple assertions</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marL="0" algn="l" defTabSz="914400" rtl="0" eaLnBrk="1" fontAlgn="b" latinLnBrk="0" hangingPunct="1">
                        <a:buNone/>
                      </a:pPr>
                      <a:r>
                        <a:rPr lang="en-IN" sz="1500" b="0" kern="1200" dirty="0">
                          <a:solidFill>
                            <a:schemeClr val="bg1"/>
                          </a:solidFill>
                          <a:effectLst/>
                          <a:latin typeface="Nunito Sans" pitchFamily="2" charset="0"/>
                          <a:ea typeface="+mn-ea"/>
                          <a:cs typeface="+mn-cs"/>
                        </a:rPr>
                        <a:t>Ambiguous parsing</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57769215"/>
                  </a:ext>
                </a:extLst>
              </a:tr>
              <a:tr h="432539">
                <a:tc>
                  <a:txBody>
                    <a:bodyPr/>
                    <a:lstStyle/>
                    <a:p>
                      <a:pPr marL="0" algn="l" defTabSz="914400" rtl="0" eaLnBrk="1" fontAlgn="b" latinLnBrk="0" hangingPunct="1">
                        <a:buNone/>
                      </a:pPr>
                      <a:r>
                        <a:rPr lang="en-IN" sz="1500" b="0" kern="1200" dirty="0">
                          <a:solidFill>
                            <a:schemeClr val="bg1"/>
                          </a:solidFill>
                          <a:effectLst/>
                          <a:latin typeface="Nunito Sans" pitchFamily="2" charset="0"/>
                          <a:ea typeface="+mn-ea"/>
                          <a:cs typeface="+mn-cs"/>
                        </a:rPr>
                        <a:t>XSW-6</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marL="0" algn="l" defTabSz="914400" rtl="0" eaLnBrk="1" fontAlgn="b" latinLnBrk="0" hangingPunct="1">
                        <a:buNone/>
                      </a:pPr>
                      <a:r>
                        <a:rPr lang="en-IN" sz="1500" b="0" kern="1200" dirty="0">
                          <a:solidFill>
                            <a:schemeClr val="bg1"/>
                          </a:solidFill>
                          <a:effectLst/>
                          <a:latin typeface="Nunito Sans" pitchFamily="2" charset="0"/>
                          <a:ea typeface="+mn-ea"/>
                          <a:cs typeface="+mn-cs"/>
                        </a:rPr>
                        <a:t>Namespace confusion</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marL="0" algn="l" defTabSz="914400" rtl="0" eaLnBrk="1" fontAlgn="b" latinLnBrk="0" hangingPunct="1">
                        <a:buNone/>
                      </a:pPr>
                      <a:r>
                        <a:rPr lang="en-IN" sz="1500" b="0" kern="1200" dirty="0">
                          <a:solidFill>
                            <a:schemeClr val="bg1"/>
                          </a:solidFill>
                          <a:effectLst/>
                          <a:latin typeface="Nunito Sans" pitchFamily="2" charset="0"/>
                          <a:ea typeface="+mn-ea"/>
                          <a:cs typeface="+mn-cs"/>
                        </a:rPr>
                        <a:t>Namespace mismatch</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63494236"/>
                  </a:ext>
                </a:extLst>
              </a:tr>
              <a:tr h="432539">
                <a:tc>
                  <a:txBody>
                    <a:bodyPr/>
                    <a:lstStyle/>
                    <a:p>
                      <a:pPr marL="0" algn="l" defTabSz="914400" rtl="0" eaLnBrk="1" fontAlgn="b" latinLnBrk="0" hangingPunct="1">
                        <a:buNone/>
                      </a:pPr>
                      <a:r>
                        <a:rPr lang="en-IN" sz="1500" b="0" kern="1200" dirty="0">
                          <a:solidFill>
                            <a:schemeClr val="bg1"/>
                          </a:solidFill>
                          <a:effectLst/>
                          <a:latin typeface="Nunito Sans" pitchFamily="2" charset="0"/>
                          <a:ea typeface="+mn-ea"/>
                          <a:cs typeface="+mn-cs"/>
                        </a:rPr>
                        <a:t>XSW-7</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marL="0" algn="l" defTabSz="914400" rtl="0" eaLnBrk="1" fontAlgn="b" latinLnBrk="0" hangingPunct="1">
                        <a:buNone/>
                      </a:pPr>
                      <a:r>
                        <a:rPr lang="en-IN" sz="1500" b="0" kern="1200" dirty="0">
                          <a:solidFill>
                            <a:schemeClr val="bg1"/>
                          </a:solidFill>
                          <a:effectLst/>
                          <a:latin typeface="Nunito Sans" pitchFamily="2" charset="0"/>
                          <a:ea typeface="+mn-ea"/>
                          <a:cs typeface="+mn-cs"/>
                        </a:rPr>
                        <a:t>Comment/CDATA</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marL="0" algn="l" defTabSz="914400" rtl="0" eaLnBrk="1" fontAlgn="b" latinLnBrk="0" hangingPunct="1">
                        <a:buNone/>
                      </a:pPr>
                      <a:r>
                        <a:rPr lang="en-IN" sz="1500" b="0" kern="1200" dirty="0">
                          <a:solidFill>
                            <a:schemeClr val="bg1"/>
                          </a:solidFill>
                          <a:effectLst/>
                          <a:latin typeface="Nunito Sans" pitchFamily="2" charset="0"/>
                          <a:ea typeface="+mn-ea"/>
                          <a:cs typeface="+mn-cs"/>
                        </a:rPr>
                        <a:t>Parser differences</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85195938"/>
                  </a:ext>
                </a:extLst>
              </a:tr>
              <a:tr h="432539">
                <a:tc>
                  <a:txBody>
                    <a:bodyPr/>
                    <a:lstStyle/>
                    <a:p>
                      <a:pPr marL="0" algn="l" defTabSz="914400" rtl="0" eaLnBrk="1" fontAlgn="b" latinLnBrk="0" hangingPunct="1">
                        <a:buNone/>
                      </a:pPr>
                      <a:r>
                        <a:rPr lang="en-IN" sz="1500" b="0" kern="1200" dirty="0">
                          <a:solidFill>
                            <a:schemeClr val="bg1"/>
                          </a:solidFill>
                          <a:effectLst/>
                          <a:latin typeface="Nunito Sans" pitchFamily="2" charset="0"/>
                          <a:ea typeface="+mn-ea"/>
                          <a:cs typeface="+mn-cs"/>
                        </a:rPr>
                        <a:t>XSW-8</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marL="0" algn="l" defTabSz="914400" rtl="0" eaLnBrk="1" fontAlgn="b" latinLnBrk="0" hangingPunct="1">
                        <a:buNone/>
                      </a:pPr>
                      <a:r>
                        <a:rPr lang="en-IN" sz="1500" b="0" kern="1200" dirty="0">
                          <a:solidFill>
                            <a:schemeClr val="bg1"/>
                          </a:solidFill>
                          <a:effectLst/>
                          <a:latin typeface="Nunito Sans" pitchFamily="2" charset="0"/>
                          <a:ea typeface="+mn-ea"/>
                          <a:cs typeface="+mn-cs"/>
                        </a:rPr>
                        <a:t>XPath/schema abuse</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tc>
                  <a:txBody>
                    <a:bodyPr/>
                    <a:lstStyle/>
                    <a:p>
                      <a:pPr marL="0" algn="l" defTabSz="914400" rtl="0" eaLnBrk="1" fontAlgn="b" latinLnBrk="0" hangingPunct="1">
                        <a:buNone/>
                      </a:pPr>
                      <a:r>
                        <a:rPr lang="en-IN" sz="1500" b="0" kern="1200" dirty="0">
                          <a:solidFill>
                            <a:schemeClr val="bg1"/>
                          </a:solidFill>
                          <a:effectLst/>
                          <a:latin typeface="Nunito Sans" pitchFamily="2" charset="0"/>
                          <a:ea typeface="+mn-ea"/>
                          <a:cs typeface="+mn-cs"/>
                        </a:rPr>
                        <a:t>Weak XPath validation</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66961484"/>
                  </a:ext>
                </a:extLst>
              </a:tr>
            </a:tbl>
          </a:graphicData>
        </a:graphic>
      </p:graphicFrame>
    </p:spTree>
    <p:extLst>
      <p:ext uri="{BB962C8B-B14F-4D97-AF65-F5344CB8AC3E}">
        <p14:creationId xmlns:p14="http://schemas.microsoft.com/office/powerpoint/2010/main" val="2711851857"/>
      </p:ext>
    </p:extLst>
  </p:cSld>
  <p:clrMapOvr>
    <a:overrideClrMapping bg1="dk1" tx1="lt1" bg2="dk2" tx2="lt2" accent1="accent1" accent2="accent2" accent3="accent3" accent4="accent4" accent5="accent5" accent6="accent6" hlink="hlink" folHlink="folHlink"/>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6E6258-012F-5EC3-9531-D8FDAD16FFCA}"/>
              </a:ext>
            </a:extLst>
          </p:cNvPr>
          <p:cNvSpPr>
            <a:spLocks noGrp="1"/>
          </p:cNvSpPr>
          <p:nvPr>
            <p:ph type="title"/>
          </p:nvPr>
        </p:nvSpPr>
        <p:spPr/>
        <p:txBody>
          <a:bodyPr/>
          <a:lstStyle/>
          <a:p>
            <a:r>
              <a:rPr lang="en-US" sz="4000" dirty="0">
                <a:latin typeface="Nunito Sans" pitchFamily="2" charset="0"/>
              </a:rPr>
              <a:t>SAML vs OAuth</a:t>
            </a:r>
            <a:endParaRPr lang="en-IN" sz="4000" dirty="0">
              <a:latin typeface="Nunito Sans" pitchFamily="2" charset="0"/>
            </a:endParaRPr>
          </a:p>
        </p:txBody>
      </p:sp>
      <p:graphicFrame>
        <p:nvGraphicFramePr>
          <p:cNvPr id="5" name="Content Placeholder 4">
            <a:extLst>
              <a:ext uri="{FF2B5EF4-FFF2-40B4-BE49-F238E27FC236}">
                <a16:creationId xmlns:a16="http://schemas.microsoft.com/office/drawing/2014/main" id="{824E9F72-EBA7-4DA1-94C7-DC18AAA9303D}"/>
              </a:ext>
            </a:extLst>
          </p:cNvPr>
          <p:cNvGraphicFramePr>
            <a:graphicFrameLocks noGrp="1"/>
          </p:cNvGraphicFramePr>
          <p:nvPr>
            <p:ph idx="1"/>
            <p:extLst>
              <p:ext uri="{D42A27DB-BD31-4B8C-83A1-F6EECF244321}">
                <p14:modId xmlns:p14="http://schemas.microsoft.com/office/powerpoint/2010/main" val="560596949"/>
              </p:ext>
            </p:extLst>
          </p:nvPr>
        </p:nvGraphicFramePr>
        <p:xfrm>
          <a:off x="446567" y="2240747"/>
          <a:ext cx="11121656" cy="4257716"/>
        </p:xfrm>
        <a:graphic>
          <a:graphicData uri="http://schemas.openxmlformats.org/drawingml/2006/table">
            <a:tbl>
              <a:tblPr firstRow="1" bandRow="1">
                <a:tableStyleId>{5C22544A-7EE6-4342-B048-85BDC9FD1C3A}</a:tableStyleId>
              </a:tblPr>
              <a:tblGrid>
                <a:gridCol w="2020186">
                  <a:extLst>
                    <a:ext uri="{9D8B030D-6E8A-4147-A177-3AD203B41FA5}">
                      <a16:colId xmlns:a16="http://schemas.microsoft.com/office/drawing/2014/main" val="3129755594"/>
                    </a:ext>
                  </a:extLst>
                </a:gridCol>
                <a:gridCol w="4359349">
                  <a:extLst>
                    <a:ext uri="{9D8B030D-6E8A-4147-A177-3AD203B41FA5}">
                      <a16:colId xmlns:a16="http://schemas.microsoft.com/office/drawing/2014/main" val="88233512"/>
                    </a:ext>
                  </a:extLst>
                </a:gridCol>
                <a:gridCol w="4742121">
                  <a:extLst>
                    <a:ext uri="{9D8B030D-6E8A-4147-A177-3AD203B41FA5}">
                      <a16:colId xmlns:a16="http://schemas.microsoft.com/office/drawing/2014/main" val="896341590"/>
                    </a:ext>
                  </a:extLst>
                </a:gridCol>
              </a:tblGrid>
              <a:tr h="444955">
                <a:tc>
                  <a:txBody>
                    <a:bodyPr/>
                    <a:lstStyle/>
                    <a:p>
                      <a:pPr algn="l" fontAlgn="b">
                        <a:buNone/>
                      </a:pPr>
                      <a:r>
                        <a:rPr lang="en-IN" sz="1500" b="1" dirty="0">
                          <a:solidFill>
                            <a:schemeClr val="tx1"/>
                          </a:solidFill>
                          <a:effectLst/>
                          <a:latin typeface="Nunito Sans" pitchFamily="2" charset="0"/>
                        </a:rPr>
                        <a:t>Feature</a:t>
                      </a:r>
                    </a:p>
                  </a:txBody>
                  <a:tcPr marL="76200" marR="76200" marT="114300" marB="114300" anchor="b">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tcPr>
                </a:tc>
                <a:tc>
                  <a:txBody>
                    <a:bodyPr/>
                    <a:lstStyle/>
                    <a:p>
                      <a:pPr algn="l" fontAlgn="b">
                        <a:buNone/>
                      </a:pPr>
                      <a:r>
                        <a:rPr lang="en-IN" sz="1500" b="1" dirty="0">
                          <a:solidFill>
                            <a:schemeClr val="tx1"/>
                          </a:solidFill>
                          <a:effectLst/>
                          <a:latin typeface="Nunito Sans" pitchFamily="2" charset="0"/>
                        </a:rPr>
                        <a:t>SAML 2.0</a:t>
                      </a:r>
                    </a:p>
                  </a:txBody>
                  <a:tcPr marL="76200" marR="76200" marT="114300" marB="114300" anchor="b">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tcPr>
                </a:tc>
                <a:tc>
                  <a:txBody>
                    <a:bodyPr/>
                    <a:lstStyle/>
                    <a:p>
                      <a:pPr algn="l" fontAlgn="b">
                        <a:buNone/>
                      </a:pPr>
                      <a:r>
                        <a:rPr lang="en-IN" sz="1500" b="1" dirty="0">
                          <a:solidFill>
                            <a:schemeClr val="tx1"/>
                          </a:solidFill>
                          <a:effectLst/>
                          <a:latin typeface="Nunito Sans" pitchFamily="2" charset="0"/>
                        </a:rPr>
                        <a:t>OAuth</a:t>
                      </a:r>
                    </a:p>
                  </a:txBody>
                  <a:tcPr marL="76200" marR="76200" marT="114300" marB="114300" anchor="b">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684523446"/>
                  </a:ext>
                </a:extLst>
              </a:tr>
              <a:tr h="519161">
                <a:tc>
                  <a:txBody>
                    <a:bodyPr/>
                    <a:lstStyle/>
                    <a:p>
                      <a:pPr fontAlgn="t">
                        <a:buNone/>
                      </a:pPr>
                      <a:r>
                        <a:rPr lang="en-IN" sz="1500" b="1" dirty="0">
                          <a:solidFill>
                            <a:schemeClr val="bg1"/>
                          </a:solidFill>
                          <a:effectLst/>
                          <a:latin typeface="Nunito Sans" pitchFamily="2" charset="0"/>
                        </a:rPr>
                        <a:t>Protocol</a:t>
                      </a:r>
                      <a:endParaRPr lang="en-IN" sz="1500" dirty="0">
                        <a:solidFill>
                          <a:schemeClr val="bg1"/>
                        </a:solidFill>
                        <a:effectLst/>
                        <a:latin typeface="Nunito Sans" pitchFamily="2" charset="0"/>
                      </a:endParaRPr>
                    </a:p>
                  </a:txBody>
                  <a:tcPr marL="76200" marR="76200" marT="76200" marB="76200">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tcPr>
                </a:tc>
                <a:tc>
                  <a:txBody>
                    <a:bodyPr/>
                    <a:lstStyle/>
                    <a:p>
                      <a:pPr fontAlgn="t">
                        <a:buNone/>
                      </a:pPr>
                      <a:r>
                        <a:rPr lang="en-US" sz="1500" dirty="0">
                          <a:solidFill>
                            <a:sysClr val="windowText" lastClr="000000"/>
                          </a:solidFill>
                          <a:effectLst/>
                          <a:latin typeface="Nunito Sans" pitchFamily="2" charset="0"/>
                        </a:rPr>
                        <a:t>SAML is an authentication protocol.</a:t>
                      </a:r>
                    </a:p>
                  </a:txBody>
                  <a:tcPr marL="76200" marR="76200" marT="76200" marB="76200">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tcPr>
                </a:tc>
                <a:tc>
                  <a:txBody>
                    <a:bodyPr/>
                    <a:lstStyle/>
                    <a:p>
                      <a:pPr fontAlgn="t">
                        <a:buNone/>
                      </a:pPr>
                      <a:r>
                        <a:rPr lang="en-US" sz="1500" dirty="0">
                          <a:solidFill>
                            <a:sysClr val="windowText" lastClr="000000"/>
                          </a:solidFill>
                          <a:effectLst/>
                          <a:latin typeface="Nunito Sans" pitchFamily="2" charset="0"/>
                        </a:rPr>
                        <a:t>OAuth is an authorization protocol.</a:t>
                      </a:r>
                    </a:p>
                  </a:txBody>
                  <a:tcPr marL="76200" marR="76200" marT="76200" marB="76200">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163187071"/>
                  </a:ext>
                </a:extLst>
              </a:tr>
              <a:tr h="1344259">
                <a:tc>
                  <a:txBody>
                    <a:bodyPr/>
                    <a:lstStyle/>
                    <a:p>
                      <a:pPr fontAlgn="t">
                        <a:buNone/>
                      </a:pPr>
                      <a:r>
                        <a:rPr lang="en-IN" sz="1500" b="1" dirty="0">
                          <a:solidFill>
                            <a:schemeClr val="bg1"/>
                          </a:solidFill>
                          <a:effectLst/>
                          <a:latin typeface="Nunito Sans" pitchFamily="2" charset="0"/>
                        </a:rPr>
                        <a:t>Usage Scenario</a:t>
                      </a:r>
                      <a:endParaRPr lang="en-IN" sz="1500" dirty="0">
                        <a:solidFill>
                          <a:schemeClr val="bg1"/>
                        </a:solidFill>
                        <a:effectLst/>
                        <a:latin typeface="Nunito Sans" pitchFamily="2" charset="0"/>
                      </a:endParaRPr>
                    </a:p>
                  </a:txBody>
                  <a:tcPr marL="76200" marR="76200" marT="76200" marB="76200">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tcPr>
                </a:tc>
                <a:tc>
                  <a:txBody>
                    <a:bodyPr/>
                    <a:lstStyle/>
                    <a:p>
                      <a:pPr fontAlgn="t">
                        <a:buNone/>
                      </a:pPr>
                      <a:r>
                        <a:rPr lang="en-US" sz="1500" dirty="0">
                          <a:solidFill>
                            <a:sysClr val="windowText" lastClr="000000"/>
                          </a:solidFill>
                          <a:effectLst/>
                          <a:latin typeface="Nunito Sans" pitchFamily="2" charset="0"/>
                        </a:rPr>
                        <a:t>SAML 2.0 will be used by those who are looking for federation and identity management. They will use this identity to login the users to different applications.</a:t>
                      </a:r>
                    </a:p>
                  </a:txBody>
                  <a:tcPr marL="76200" marR="76200" marT="76200" marB="76200">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tcPr>
                </a:tc>
                <a:tc>
                  <a:txBody>
                    <a:bodyPr/>
                    <a:lstStyle/>
                    <a:p>
                      <a:pPr fontAlgn="t">
                        <a:buNone/>
                      </a:pPr>
                      <a:r>
                        <a:rPr lang="en-US" sz="1500" dirty="0">
                          <a:solidFill>
                            <a:sysClr val="windowText" lastClr="000000"/>
                          </a:solidFill>
                          <a:effectLst/>
                          <a:latin typeface="Nunito Sans" pitchFamily="2" charset="0"/>
                        </a:rPr>
                        <a:t>OAuth will be used by those who are not looking to maintain identities but are rather trying to leverage the implementation of secure protocol by applications such as Google, Microsoft, </a:t>
                      </a:r>
                      <a:r>
                        <a:rPr lang="en-US" sz="1500" dirty="0" err="1">
                          <a:solidFill>
                            <a:sysClr val="windowText" lastClr="000000"/>
                          </a:solidFill>
                          <a:effectLst/>
                          <a:latin typeface="Nunito Sans" pitchFamily="2" charset="0"/>
                        </a:rPr>
                        <a:t>Paypal</a:t>
                      </a:r>
                      <a:r>
                        <a:rPr lang="en-US" sz="1500" dirty="0">
                          <a:solidFill>
                            <a:sysClr val="windowText" lastClr="000000"/>
                          </a:solidFill>
                          <a:effectLst/>
                          <a:latin typeface="Nunito Sans" pitchFamily="2" charset="0"/>
                        </a:rPr>
                        <a:t>, who ensure that the identities are authentic.</a:t>
                      </a:r>
                    </a:p>
                  </a:txBody>
                  <a:tcPr marL="76200" marR="76200" marT="76200" marB="76200">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237971355"/>
                  </a:ext>
                </a:extLst>
              </a:tr>
              <a:tr h="593273">
                <a:tc>
                  <a:txBody>
                    <a:bodyPr/>
                    <a:lstStyle/>
                    <a:p>
                      <a:pPr fontAlgn="t">
                        <a:buNone/>
                      </a:pPr>
                      <a:r>
                        <a:rPr lang="en-IN" sz="1500" b="1" dirty="0">
                          <a:solidFill>
                            <a:schemeClr val="bg1"/>
                          </a:solidFill>
                          <a:effectLst/>
                          <a:latin typeface="Nunito Sans" pitchFamily="2" charset="0"/>
                        </a:rPr>
                        <a:t>Suitable Application</a:t>
                      </a:r>
                      <a:endParaRPr lang="en-IN" sz="1500" dirty="0">
                        <a:solidFill>
                          <a:schemeClr val="bg1"/>
                        </a:solidFill>
                        <a:effectLst/>
                        <a:latin typeface="Nunito Sans" pitchFamily="2" charset="0"/>
                      </a:endParaRPr>
                    </a:p>
                  </a:txBody>
                  <a:tcPr marL="76200" marR="76200" marT="76200" marB="76200">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tcPr>
                </a:tc>
                <a:tc>
                  <a:txBody>
                    <a:bodyPr/>
                    <a:lstStyle/>
                    <a:p>
                      <a:pPr fontAlgn="t">
                        <a:buNone/>
                      </a:pPr>
                      <a:r>
                        <a:rPr lang="en-US" sz="1500" dirty="0">
                          <a:solidFill>
                            <a:sysClr val="windowText" lastClr="000000"/>
                          </a:solidFill>
                          <a:effectLst/>
                          <a:latin typeface="Nunito Sans" pitchFamily="2" charset="0"/>
                        </a:rPr>
                        <a:t>SAML 2.0 is popular for browser-based applications.</a:t>
                      </a:r>
                    </a:p>
                  </a:txBody>
                  <a:tcPr marL="76200" marR="76200" marT="76200" marB="76200">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tcPr>
                </a:tc>
                <a:tc>
                  <a:txBody>
                    <a:bodyPr/>
                    <a:lstStyle/>
                    <a:p>
                      <a:pPr fontAlgn="t">
                        <a:buNone/>
                      </a:pPr>
                      <a:r>
                        <a:rPr lang="en-US" sz="1500" dirty="0">
                          <a:solidFill>
                            <a:sysClr val="windowText" lastClr="000000"/>
                          </a:solidFill>
                          <a:effectLst/>
                          <a:latin typeface="Nunito Sans" pitchFamily="2" charset="0"/>
                        </a:rPr>
                        <a:t>OAuth is suitable for both browser and mobile applications.</a:t>
                      </a:r>
                    </a:p>
                  </a:txBody>
                  <a:tcPr marL="76200" marR="76200" marT="76200" marB="76200">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2969994491"/>
                  </a:ext>
                </a:extLst>
              </a:tr>
              <a:tr h="717896">
                <a:tc>
                  <a:txBody>
                    <a:bodyPr/>
                    <a:lstStyle/>
                    <a:p>
                      <a:pPr fontAlgn="t">
                        <a:buNone/>
                      </a:pPr>
                      <a:r>
                        <a:rPr lang="en-IN" sz="1500" b="1">
                          <a:solidFill>
                            <a:schemeClr val="bg1"/>
                          </a:solidFill>
                          <a:effectLst/>
                          <a:latin typeface="Nunito Sans" pitchFamily="2" charset="0"/>
                        </a:rPr>
                        <a:t>Commonly Used By</a:t>
                      </a:r>
                      <a:endParaRPr lang="en-IN" sz="1500">
                        <a:solidFill>
                          <a:schemeClr val="bg1"/>
                        </a:solidFill>
                        <a:effectLst/>
                        <a:latin typeface="Nunito Sans" pitchFamily="2" charset="0"/>
                      </a:endParaRPr>
                    </a:p>
                  </a:txBody>
                  <a:tcPr marL="76200" marR="76200" marT="76200" marB="76200">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tcPr>
                </a:tc>
                <a:tc>
                  <a:txBody>
                    <a:bodyPr/>
                    <a:lstStyle/>
                    <a:p>
                      <a:pPr fontAlgn="t">
                        <a:buNone/>
                      </a:pPr>
                      <a:r>
                        <a:rPr lang="en-US" sz="1500" dirty="0">
                          <a:solidFill>
                            <a:sysClr val="windowText" lastClr="000000"/>
                          </a:solidFill>
                          <a:effectLst/>
                          <a:latin typeface="Nunito Sans" pitchFamily="2" charset="0"/>
                        </a:rPr>
                        <a:t>SAM 2.0 is widely used for enterprise applications.</a:t>
                      </a:r>
                    </a:p>
                  </a:txBody>
                  <a:tcPr marL="76200" marR="76200" marT="76200" marB="76200">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tcPr>
                </a:tc>
                <a:tc>
                  <a:txBody>
                    <a:bodyPr/>
                    <a:lstStyle/>
                    <a:p>
                      <a:pPr fontAlgn="t">
                        <a:buNone/>
                      </a:pPr>
                      <a:r>
                        <a:rPr lang="en-US" sz="1500" dirty="0">
                          <a:solidFill>
                            <a:sysClr val="windowText" lastClr="000000"/>
                          </a:solidFill>
                          <a:effectLst/>
                          <a:latin typeface="Nunito Sans" pitchFamily="2" charset="0"/>
                        </a:rPr>
                        <a:t>OAuth is widely used for customer applications and API access.</a:t>
                      </a:r>
                    </a:p>
                  </a:txBody>
                  <a:tcPr marL="76200" marR="76200" marT="76200" marB="76200">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874478895"/>
                  </a:ext>
                </a:extLst>
              </a:tr>
              <a:tr h="593273">
                <a:tc>
                  <a:txBody>
                    <a:bodyPr/>
                    <a:lstStyle/>
                    <a:p>
                      <a:pPr fontAlgn="t">
                        <a:buNone/>
                      </a:pPr>
                      <a:r>
                        <a:rPr lang="en-IN" sz="1500" b="1" dirty="0">
                          <a:solidFill>
                            <a:schemeClr val="bg1"/>
                          </a:solidFill>
                          <a:effectLst/>
                          <a:latin typeface="Nunito Sans" pitchFamily="2" charset="0"/>
                        </a:rPr>
                        <a:t>Data Format</a:t>
                      </a:r>
                      <a:endParaRPr lang="en-IN" sz="1500" dirty="0">
                        <a:solidFill>
                          <a:schemeClr val="bg1"/>
                        </a:solidFill>
                        <a:effectLst/>
                        <a:latin typeface="Nunito Sans" pitchFamily="2" charset="0"/>
                      </a:endParaRPr>
                    </a:p>
                  </a:txBody>
                  <a:tcPr marL="76200" marR="76200" marT="76200" marB="76200">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tcPr>
                </a:tc>
                <a:tc>
                  <a:txBody>
                    <a:bodyPr/>
                    <a:lstStyle/>
                    <a:p>
                      <a:pPr fontAlgn="t">
                        <a:buNone/>
                      </a:pPr>
                      <a:r>
                        <a:rPr lang="en-US" sz="1500">
                          <a:solidFill>
                            <a:sysClr val="windowText" lastClr="000000"/>
                          </a:solidFill>
                          <a:effectLst/>
                          <a:latin typeface="Nunito Sans" pitchFamily="2" charset="0"/>
                        </a:rPr>
                        <a:t>SAML 2.0 uses XML to transfer messages between applications.</a:t>
                      </a:r>
                    </a:p>
                  </a:txBody>
                  <a:tcPr marL="76200" marR="76200" marT="76200" marB="76200">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tcPr>
                </a:tc>
                <a:tc>
                  <a:txBody>
                    <a:bodyPr/>
                    <a:lstStyle/>
                    <a:p>
                      <a:pPr fontAlgn="t">
                        <a:buNone/>
                      </a:pPr>
                      <a:r>
                        <a:rPr lang="en-US" sz="1500" dirty="0">
                          <a:solidFill>
                            <a:sysClr val="windowText" lastClr="000000"/>
                          </a:solidFill>
                          <a:effectLst/>
                          <a:latin typeface="Nunito Sans" pitchFamily="2" charset="0"/>
                        </a:rPr>
                        <a:t>OAuth uses JSON to transfer messages between applications.</a:t>
                      </a:r>
                    </a:p>
                  </a:txBody>
                  <a:tcPr marL="76200" marR="76200" marT="76200" marB="76200">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49351897"/>
                  </a:ext>
                </a:extLst>
              </a:tr>
            </a:tbl>
          </a:graphicData>
        </a:graphic>
      </p:graphicFrame>
    </p:spTree>
    <p:extLst>
      <p:ext uri="{BB962C8B-B14F-4D97-AF65-F5344CB8AC3E}">
        <p14:creationId xmlns:p14="http://schemas.microsoft.com/office/powerpoint/2010/main" val="3908831030"/>
      </p:ext>
    </p:extLst>
  </p:cSld>
  <p:clrMapOvr>
    <a:masterClrMapping/>
  </p:clrMapOvr>
</p:sld>
</file>

<file path=ppt/theme/theme1.xml><?xml version="1.0" encoding="utf-8"?>
<a:theme xmlns:a="http://schemas.openxmlformats.org/drawingml/2006/main" name="Berlin">
  <a:themeElements>
    <a:clrScheme name="Berlin">
      <a:dk1>
        <a:sysClr val="windowText" lastClr="000000"/>
      </a:dk1>
      <a:lt1>
        <a:sysClr val="window" lastClr="FFFFFF"/>
      </a:lt1>
      <a:dk2>
        <a:srgbClr val="9D360E"/>
      </a:dk2>
      <a:lt2>
        <a:srgbClr val="E7E6E6"/>
      </a:lt2>
      <a:accent1>
        <a:srgbClr val="F09415"/>
      </a:accent1>
      <a:accent2>
        <a:srgbClr val="C1B56B"/>
      </a:accent2>
      <a:accent3>
        <a:srgbClr val="4BAF73"/>
      </a:accent3>
      <a:accent4>
        <a:srgbClr val="5AA6C0"/>
      </a:accent4>
      <a:accent5>
        <a:srgbClr val="D17DF9"/>
      </a:accent5>
      <a:accent6>
        <a:srgbClr val="FA7E5C"/>
      </a:accent6>
      <a:hlink>
        <a:srgbClr val="FFAE3E"/>
      </a:hlink>
      <a:folHlink>
        <a:srgbClr val="FCC77E"/>
      </a:folHlink>
    </a:clrScheme>
    <a:fontScheme name="Berlin">
      <a:majorFont>
        <a:latin typeface="Trebuchet MS" panose="020B0603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rebuchet MS" panose="020B0603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erlin">
      <a:fillStyleLst>
        <a:solidFill>
          <a:schemeClr val="phClr"/>
        </a:solidFill>
        <a:gradFill rotWithShape="1">
          <a:gsLst>
            <a:gs pos="0">
              <a:schemeClr val="phClr">
                <a:tint val="60000"/>
                <a:satMod val="100000"/>
                <a:lumMod val="110000"/>
              </a:schemeClr>
            </a:gs>
            <a:gs pos="100000">
              <a:schemeClr val="phClr">
                <a:tint val="70000"/>
                <a:satMod val="100000"/>
                <a:lumMod val="100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6000"/>
                <a:shade val="100000"/>
                <a:hueMod val="270000"/>
                <a:satMod val="200000"/>
                <a:lumMod val="128000"/>
              </a:schemeClr>
            </a:gs>
            <a:gs pos="50000">
              <a:schemeClr val="phClr">
                <a:shade val="100000"/>
                <a:hueMod val="100000"/>
                <a:satMod val="110000"/>
                <a:lumMod val="130000"/>
              </a:schemeClr>
            </a:gs>
            <a:gs pos="100000">
              <a:schemeClr val="phClr">
                <a:shade val="78000"/>
                <a:hueMod val="44000"/>
                <a:satMod val="200000"/>
                <a:lumMod val="69000"/>
              </a:schemeClr>
            </a:gs>
          </a:gsLst>
          <a:lin ang="2520000" scaled="0"/>
        </a:gradFill>
      </a:bgFillStyleLst>
    </a:fmtScheme>
  </a:themeElements>
  <a:objectDefaults/>
  <a:extraClrSchemeLst/>
  <a:extLst>
    <a:ext uri="{05A4C25C-085E-4340-85A3-A5531E510DB2}">
      <thm15:themeFamily xmlns:thm15="http://schemas.microsoft.com/office/thememl/2012/main" name="Berlin" id="{7B5DBA9E-B069-418E-9360-A61BDD0615A4}" vid="{C0CBE056-4EF4-4D92-969E-947779DA7AA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Berlin">
    <a:dk1>
      <a:sysClr val="windowText" lastClr="000000"/>
    </a:dk1>
    <a:lt1>
      <a:sysClr val="window" lastClr="FFFFFF"/>
    </a:lt1>
    <a:dk2>
      <a:srgbClr val="9D360E"/>
    </a:dk2>
    <a:lt2>
      <a:srgbClr val="E7E6E6"/>
    </a:lt2>
    <a:accent1>
      <a:srgbClr val="F09415"/>
    </a:accent1>
    <a:accent2>
      <a:srgbClr val="C1B56B"/>
    </a:accent2>
    <a:accent3>
      <a:srgbClr val="4BAF73"/>
    </a:accent3>
    <a:accent4>
      <a:srgbClr val="5AA6C0"/>
    </a:accent4>
    <a:accent5>
      <a:srgbClr val="D17DF9"/>
    </a:accent5>
    <a:accent6>
      <a:srgbClr val="FA7E5C"/>
    </a:accent6>
    <a:hlink>
      <a:srgbClr val="FFAE3E"/>
    </a:hlink>
    <a:folHlink>
      <a:srgbClr val="FCC77E"/>
    </a:folHlink>
  </a:clrScheme>
</a:themeOverride>
</file>

<file path=docProps/app.xml><?xml version="1.0" encoding="utf-8"?>
<Properties xmlns="http://schemas.openxmlformats.org/officeDocument/2006/extended-properties" xmlns:vt="http://schemas.openxmlformats.org/officeDocument/2006/docPropsVTypes">
  <Template/>
  <TotalTime>41964</TotalTime>
  <Words>1173</Words>
  <Application>Microsoft Office PowerPoint</Application>
  <PresentationFormat>Widescreen</PresentationFormat>
  <Paragraphs>137</Paragraphs>
  <Slides>20</Slides>
  <Notes>11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20</vt:i4>
      </vt:variant>
    </vt:vector>
  </HeadingPairs>
  <TitlesOfParts>
    <vt:vector size="26" baseType="lpstr">
      <vt:lpstr>Arial</vt:lpstr>
      <vt:lpstr>Calibri</vt:lpstr>
      <vt:lpstr>Nunito Sans</vt:lpstr>
      <vt:lpstr>Trebuchet MS</vt:lpstr>
      <vt:lpstr>Wingdings</vt:lpstr>
      <vt:lpstr>Berlin</vt:lpstr>
      <vt:lpstr>Web Hacking Extreme Bootcamp</vt:lpstr>
      <vt:lpstr>Security Assertion Markup Language (SAML)</vt:lpstr>
      <vt:lpstr>Topics</vt:lpstr>
      <vt:lpstr>Single Sign-on (SSO) </vt:lpstr>
      <vt:lpstr>Introduction to SAML</vt:lpstr>
      <vt:lpstr>POV  </vt:lpstr>
      <vt:lpstr>Core Concepts</vt:lpstr>
      <vt:lpstr> 3 Trinity of SAML </vt:lpstr>
      <vt:lpstr>Authentication Flow</vt:lpstr>
      <vt:lpstr>SAML Assertions</vt:lpstr>
      <vt:lpstr>SAML Protocols</vt:lpstr>
      <vt:lpstr>SAML Bindings</vt:lpstr>
      <vt:lpstr>SAML Profiles</vt:lpstr>
      <vt:lpstr>Summarize </vt:lpstr>
      <vt:lpstr>Schema Definitions</vt:lpstr>
      <vt:lpstr>Testcases</vt:lpstr>
      <vt:lpstr>XML Signature Wrapping (XSW) attack </vt:lpstr>
      <vt:lpstr>XSW1 Attack</vt:lpstr>
      <vt:lpstr>PowerPoint Presentation</vt:lpstr>
      <vt:lpstr>SAML vs OAuth</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Understanding Active Directory</dc:title>
  <dc:creator>Admin</dc:creator>
  <cp:lastModifiedBy>Yash Mehta</cp:lastModifiedBy>
  <cp:revision>332</cp:revision>
  <dcterms:created xsi:type="dcterms:W3CDTF">2023-03-18T07:14:19Z</dcterms:created>
  <dcterms:modified xsi:type="dcterms:W3CDTF">2026-01-12T13:11:21Z</dcterms:modified>
</cp:coreProperties>
</file>